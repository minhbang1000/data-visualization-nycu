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2" roundtripDataSignature="AMtx7mjuhxqSCOGSHH4dth8hho3lLWqe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A1347FB-14EA-407D-ABD4-EF2CE944BC5F}">
  <a:tblStyle styleId="{0A1347FB-14EA-407D-ABD4-EF2CE944BC5F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accent5">
              <a:alpha val="20000"/>
            </a:schemeClr>
          </a:solidFill>
        </a:fill>
      </a:tcStyle>
    </a:band1H>
    <a:band2H>
      <a:tcTxStyle/>
    </a:band2H>
    <a:band1V>
      <a:tcTxStyle/>
      <a:tcStyle>
        <a:fill>
          <a:solidFill>
            <a:schemeClr val="accent5">
              <a:alpha val="20000"/>
            </a:schemeClr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/>
      <a:tcStyle>
        <a:tcBdr>
          <a:bottom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2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" name="Google Shape;5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018152c2a7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3018152c2a7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" name="Google Shape;59;g3018152c2a7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018152c2a7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g3018152c2a7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" name="Google Shape;75;g3018152c2a7_0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018152c2a7_0_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3018152c2a7_0_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g3018152c2a7_0_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1" name="Google Shape;13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018152c2a7_0_1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3018152c2a7_0_1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2" name="Google Shape;142;g3018152c2a7_0_1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018152c2a7_0_1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018152c2a7_0_1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57" name="Google Shape;157;g3018152c2a7_0_1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b0fc4f7a4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g1b0fc4f7a4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g1b0fc4f7a42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19dbecf8930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19dbecf8930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g19dbecf8930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9dbecf8930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g19dbecf893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33" name="Google Shape;233;g19dbecf8930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19dbecf8930_1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g19dbecf8930_1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4" name="Google Shape;244;g19dbecf8930_1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9dbecf8930_1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g19dbecf8930_1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g19dbecf8930_1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19dbecf8930_1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g19dbecf8930_1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g19dbecf8930_1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19dbecf8930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g19dbecf8930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7" name="Google Shape;277;g19dbecf8930_0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9dbecf8930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g19dbecf8930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g19dbecf8930_0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9dbecf8930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g19dbecf8930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9" name="Google Shape;299;g19dbecf8930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0" name="Google Shape;310;p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0" name="Google Shape;320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9dbecf8930_1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g19dbecf8930_1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3" name="Google Shape;333;g19dbecf8930_1_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b108fae7d0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g1b108fae7d0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3" name="Google Shape;343;g1b108fae7d0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1b108fae7d0_1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g1b108fae7d0_1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5" name="Google Shape;355;g1b108fae7d0_1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1b0fc4f7a42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g1b0fc4f7a42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2" name="Google Shape;372;g1b0fc4f7a42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4" name="Google Shape;384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2" name="Google Shape;40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17" name="Google Shape;41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" name="Google Shape;43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5" name="Google Shape;435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" name="Google Shape;442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43" name="Google Shape;443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1" name="Google Shape;451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9" name="Google Shape;459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" name="Google Shape;471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2" name="Google Shape;472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2" name="Google Shape;492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3" name="Google Shape;493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0" name="Google Shape;500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4" name="Google Shape;514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5" name="Google Shape;515;p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" name="Google Shape;528;p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9" name="Google Shape;529;p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8" name="Google Shape;538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/>
          </a:p>
        </p:txBody>
      </p:sp>
      <p:sp>
        <p:nvSpPr>
          <p:cNvPr id="547" name="Google Shape;547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8"/>
          <p:cNvSpPr/>
          <p:nvPr/>
        </p:nvSpPr>
        <p:spPr>
          <a:xfrm flipH="1" rot="10800000">
            <a:off x="0" y="6314283"/>
            <a:ext cx="12192000" cy="380026"/>
          </a:xfrm>
          <a:custGeom>
            <a:rect b="b" l="l" r="r" t="t"/>
            <a:pathLst>
              <a:path extrusionOk="0" h="40400" w="189451">
                <a:moveTo>
                  <a:pt x="54709" y="39395"/>
                </a:moveTo>
                <a:cubicBezTo>
                  <a:pt x="56506" y="39968"/>
                  <a:pt x="58356" y="40292"/>
                  <a:pt x="60207" y="40400"/>
                </a:cubicBezTo>
                <a:lnTo>
                  <a:pt x="62949" y="40400"/>
                </a:lnTo>
                <a:cubicBezTo>
                  <a:pt x="67214" y="40156"/>
                  <a:pt x="71359" y="38805"/>
                  <a:pt x="74758" y="36658"/>
                </a:cubicBezTo>
                <a:cubicBezTo>
                  <a:pt x="77764" y="34909"/>
                  <a:pt x="80644" y="32964"/>
                  <a:pt x="83519" y="31063"/>
                </a:cubicBezTo>
                <a:cubicBezTo>
                  <a:pt x="86390" y="29163"/>
                  <a:pt x="89257" y="27305"/>
                  <a:pt x="92234" y="25722"/>
                </a:cubicBezTo>
                <a:cubicBezTo>
                  <a:pt x="95795" y="23949"/>
                  <a:pt x="99663" y="23527"/>
                  <a:pt x="103435" y="23979"/>
                </a:cubicBezTo>
                <a:cubicBezTo>
                  <a:pt x="107209" y="24320"/>
                  <a:pt x="110759" y="25511"/>
                  <a:pt x="114055" y="27098"/>
                </a:cubicBezTo>
                <a:cubicBezTo>
                  <a:pt x="122678" y="31460"/>
                  <a:pt x="130034" y="38404"/>
                  <a:pt x="141193" y="37015"/>
                </a:cubicBezTo>
                <a:cubicBezTo>
                  <a:pt x="150069" y="35824"/>
                  <a:pt x="156409" y="30469"/>
                  <a:pt x="164526" y="27691"/>
                </a:cubicBezTo>
                <a:cubicBezTo>
                  <a:pt x="166554" y="27098"/>
                  <a:pt x="168837" y="26502"/>
                  <a:pt x="171179" y="26424"/>
                </a:cubicBezTo>
                <a:cubicBezTo>
                  <a:pt x="175334" y="25871"/>
                  <a:pt x="179440" y="26038"/>
                  <a:pt x="183492" y="26592"/>
                </a:cubicBezTo>
                <a:cubicBezTo>
                  <a:pt x="185492" y="26866"/>
                  <a:pt x="187478" y="27236"/>
                  <a:pt x="189451" y="27657"/>
                </a:cubicBezTo>
                <a:lnTo>
                  <a:pt x="189451" y="3546"/>
                </a:lnTo>
                <a:cubicBezTo>
                  <a:pt x="189428" y="3546"/>
                  <a:pt x="189407" y="3544"/>
                  <a:pt x="189384" y="3542"/>
                </a:cubicBezTo>
                <a:cubicBezTo>
                  <a:pt x="184312" y="3323"/>
                  <a:pt x="179244" y="3122"/>
                  <a:pt x="174179" y="3028"/>
                </a:cubicBezTo>
                <a:cubicBezTo>
                  <a:pt x="169099" y="2864"/>
                  <a:pt x="164086" y="3080"/>
                  <a:pt x="159075" y="3435"/>
                </a:cubicBezTo>
                <a:cubicBezTo>
                  <a:pt x="154063" y="3791"/>
                  <a:pt x="149055" y="4287"/>
                  <a:pt x="143983" y="4676"/>
                </a:cubicBezTo>
                <a:cubicBezTo>
                  <a:pt x="140685" y="4683"/>
                  <a:pt x="137388" y="4883"/>
                  <a:pt x="134092" y="4287"/>
                </a:cubicBezTo>
                <a:cubicBezTo>
                  <a:pt x="122806" y="2204"/>
                  <a:pt x="111837" y="1360"/>
                  <a:pt x="100933" y="1471"/>
                </a:cubicBezTo>
                <a:cubicBezTo>
                  <a:pt x="95481" y="1526"/>
                  <a:pt x="90046" y="1821"/>
                  <a:pt x="84596" y="2371"/>
                </a:cubicBezTo>
                <a:cubicBezTo>
                  <a:pt x="80587" y="3319"/>
                  <a:pt x="76556" y="4015"/>
                  <a:pt x="72508" y="4516"/>
                </a:cubicBezTo>
                <a:cubicBezTo>
                  <a:pt x="68458" y="5016"/>
                  <a:pt x="64391" y="5322"/>
                  <a:pt x="60311" y="5468"/>
                </a:cubicBezTo>
                <a:cubicBezTo>
                  <a:pt x="57499" y="5476"/>
                  <a:pt x="54709" y="5476"/>
                  <a:pt x="51667" y="4883"/>
                </a:cubicBezTo>
                <a:cubicBezTo>
                  <a:pt x="34072" y="2092"/>
                  <a:pt x="17146" y="1"/>
                  <a:pt x="0" y="2827"/>
                </a:cubicBezTo>
                <a:lnTo>
                  <a:pt x="0" y="34113"/>
                </a:lnTo>
                <a:cubicBezTo>
                  <a:pt x="4592" y="31623"/>
                  <a:pt x="8631" y="28465"/>
                  <a:pt x="13876" y="27098"/>
                </a:cubicBezTo>
                <a:cubicBezTo>
                  <a:pt x="29855" y="22734"/>
                  <a:pt x="41267" y="35031"/>
                  <a:pt x="54709" y="39395"/>
                </a:cubicBezTo>
                <a:close/>
              </a:path>
            </a:pathLst>
          </a:custGeom>
          <a:solidFill>
            <a:srgbClr val="DB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8"/>
          <p:cNvSpPr/>
          <p:nvPr/>
        </p:nvSpPr>
        <p:spPr>
          <a:xfrm flipH="1" rot="10800000">
            <a:off x="0" y="6354348"/>
            <a:ext cx="12192000" cy="420124"/>
          </a:xfrm>
          <a:custGeom>
            <a:rect b="b" l="l" r="r" t="t"/>
            <a:pathLst>
              <a:path extrusionOk="0" h="40403" w="189451">
                <a:moveTo>
                  <a:pt x="189451" y="0"/>
                </a:moveTo>
                <a:cubicBezTo>
                  <a:pt x="180612" y="819"/>
                  <a:pt x="171857" y="2484"/>
                  <a:pt x="162793" y="3371"/>
                </a:cubicBezTo>
                <a:cubicBezTo>
                  <a:pt x="157722" y="3719"/>
                  <a:pt x="152903" y="3719"/>
                  <a:pt x="148062" y="3670"/>
                </a:cubicBezTo>
                <a:cubicBezTo>
                  <a:pt x="141727" y="3248"/>
                  <a:pt x="135390" y="2974"/>
                  <a:pt x="129048" y="2809"/>
                </a:cubicBezTo>
                <a:cubicBezTo>
                  <a:pt x="122706" y="2641"/>
                  <a:pt x="116356" y="2581"/>
                  <a:pt x="109996" y="2586"/>
                </a:cubicBezTo>
                <a:cubicBezTo>
                  <a:pt x="105754" y="2596"/>
                  <a:pt x="101506" y="2641"/>
                  <a:pt x="97247" y="2766"/>
                </a:cubicBezTo>
                <a:cubicBezTo>
                  <a:pt x="91824" y="3178"/>
                  <a:pt x="86407" y="3422"/>
                  <a:pt x="80993" y="3537"/>
                </a:cubicBezTo>
                <a:cubicBezTo>
                  <a:pt x="76906" y="3496"/>
                  <a:pt x="72842" y="3258"/>
                  <a:pt x="68788" y="2945"/>
                </a:cubicBezTo>
                <a:cubicBezTo>
                  <a:pt x="63969" y="2536"/>
                  <a:pt x="59152" y="1941"/>
                  <a:pt x="54301" y="1512"/>
                </a:cubicBezTo>
                <a:cubicBezTo>
                  <a:pt x="49452" y="1084"/>
                  <a:pt x="44570" y="824"/>
                  <a:pt x="39638" y="1113"/>
                </a:cubicBezTo>
                <a:cubicBezTo>
                  <a:pt x="26458" y="2169"/>
                  <a:pt x="13288" y="3449"/>
                  <a:pt x="0" y="3488"/>
                </a:cubicBezTo>
                <a:lnTo>
                  <a:pt x="0" y="36304"/>
                </a:lnTo>
                <a:cubicBezTo>
                  <a:pt x="8688" y="37582"/>
                  <a:pt x="17485" y="37089"/>
                  <a:pt x="24914" y="32553"/>
                </a:cubicBezTo>
                <a:cubicBezTo>
                  <a:pt x="30748" y="28901"/>
                  <a:pt x="34044" y="24381"/>
                  <a:pt x="39878" y="21078"/>
                </a:cubicBezTo>
                <a:cubicBezTo>
                  <a:pt x="50784" y="14819"/>
                  <a:pt x="60674" y="25251"/>
                  <a:pt x="68283" y="29597"/>
                </a:cubicBezTo>
                <a:cubicBezTo>
                  <a:pt x="73609" y="32727"/>
                  <a:pt x="80964" y="34291"/>
                  <a:pt x="87520" y="31778"/>
                </a:cubicBezTo>
                <a:cubicBezTo>
                  <a:pt x="93112" y="29232"/>
                  <a:pt x="98375" y="25973"/>
                  <a:pt x="104207" y="23364"/>
                </a:cubicBezTo>
                <a:cubicBezTo>
                  <a:pt x="107759" y="21800"/>
                  <a:pt x="111816" y="21104"/>
                  <a:pt x="115908" y="21456"/>
                </a:cubicBezTo>
                <a:cubicBezTo>
                  <a:pt x="119805" y="21876"/>
                  <a:pt x="123387" y="23126"/>
                  <a:pt x="126780" y="24798"/>
                </a:cubicBezTo>
                <a:cubicBezTo>
                  <a:pt x="133563" y="28145"/>
                  <a:pt x="139587" y="33187"/>
                  <a:pt x="145800" y="36752"/>
                </a:cubicBezTo>
                <a:cubicBezTo>
                  <a:pt x="149858" y="39185"/>
                  <a:pt x="154931" y="40402"/>
                  <a:pt x="160322" y="40186"/>
                </a:cubicBezTo>
                <a:cubicBezTo>
                  <a:pt x="173444" y="38838"/>
                  <a:pt x="178264" y="29450"/>
                  <a:pt x="185619" y="22670"/>
                </a:cubicBezTo>
                <a:cubicBezTo>
                  <a:pt x="186613" y="21792"/>
                  <a:pt x="187968" y="21148"/>
                  <a:pt x="189451" y="20624"/>
                </a:cubicBezTo>
                <a:lnTo>
                  <a:pt x="189451" y="0"/>
                </a:lnTo>
                <a:close/>
              </a:path>
            </a:pathLst>
          </a:custGeom>
          <a:solidFill>
            <a:srgbClr val="96D6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8"/>
          <p:cNvSpPr/>
          <p:nvPr/>
        </p:nvSpPr>
        <p:spPr>
          <a:xfrm flipH="1" rot="10800000">
            <a:off x="0" y="6504296"/>
            <a:ext cx="12192000" cy="420127"/>
          </a:xfrm>
          <a:custGeom>
            <a:rect b="b" l="l" r="r" t="t"/>
            <a:pathLst>
              <a:path extrusionOk="0" h="38602" w="189451">
                <a:moveTo>
                  <a:pt x="189451" y="2800"/>
                </a:moveTo>
                <a:cubicBezTo>
                  <a:pt x="188213" y="2766"/>
                  <a:pt x="186975" y="2731"/>
                  <a:pt x="185737" y="2693"/>
                </a:cubicBezTo>
                <a:cubicBezTo>
                  <a:pt x="179929" y="2534"/>
                  <a:pt x="174124" y="2307"/>
                  <a:pt x="168322" y="2096"/>
                </a:cubicBezTo>
                <a:cubicBezTo>
                  <a:pt x="162522" y="1884"/>
                  <a:pt x="156726" y="1691"/>
                  <a:pt x="150932" y="1602"/>
                </a:cubicBezTo>
                <a:cubicBezTo>
                  <a:pt x="145121" y="1444"/>
                  <a:pt x="139387" y="1650"/>
                  <a:pt x="133655" y="1993"/>
                </a:cubicBezTo>
                <a:cubicBezTo>
                  <a:pt x="127923" y="2333"/>
                  <a:pt x="122193" y="2809"/>
                  <a:pt x="116393" y="3182"/>
                </a:cubicBezTo>
                <a:cubicBezTo>
                  <a:pt x="112621" y="3190"/>
                  <a:pt x="108849" y="3380"/>
                  <a:pt x="105079" y="2809"/>
                </a:cubicBezTo>
                <a:cubicBezTo>
                  <a:pt x="92169" y="810"/>
                  <a:pt x="79623" y="0"/>
                  <a:pt x="67151" y="106"/>
                </a:cubicBezTo>
                <a:cubicBezTo>
                  <a:pt x="60916" y="159"/>
                  <a:pt x="54699" y="443"/>
                  <a:pt x="48464" y="970"/>
                </a:cubicBezTo>
                <a:cubicBezTo>
                  <a:pt x="43879" y="1881"/>
                  <a:pt x="39268" y="2547"/>
                  <a:pt x="34636" y="3029"/>
                </a:cubicBezTo>
                <a:cubicBezTo>
                  <a:pt x="30006" y="3509"/>
                  <a:pt x="25355" y="3803"/>
                  <a:pt x="20687" y="3944"/>
                </a:cubicBezTo>
                <a:cubicBezTo>
                  <a:pt x="17470" y="3951"/>
                  <a:pt x="14279" y="3951"/>
                  <a:pt x="10799" y="3380"/>
                </a:cubicBezTo>
                <a:cubicBezTo>
                  <a:pt x="7176" y="2898"/>
                  <a:pt x="3579" y="2439"/>
                  <a:pt x="0" y="2025"/>
                </a:cubicBezTo>
                <a:lnTo>
                  <a:pt x="0" y="30928"/>
                </a:lnTo>
                <a:cubicBezTo>
                  <a:pt x="4687" y="33051"/>
                  <a:pt x="9365" y="35168"/>
                  <a:pt x="14279" y="36507"/>
                </a:cubicBezTo>
                <a:cubicBezTo>
                  <a:pt x="22112" y="38601"/>
                  <a:pt x="30814" y="37268"/>
                  <a:pt x="37211" y="33880"/>
                </a:cubicBezTo>
                <a:cubicBezTo>
                  <a:pt x="40651" y="32201"/>
                  <a:pt x="43944" y="30335"/>
                  <a:pt x="47233" y="28510"/>
                </a:cubicBezTo>
                <a:cubicBezTo>
                  <a:pt x="50516" y="26685"/>
                  <a:pt x="53797" y="24902"/>
                  <a:pt x="57202" y="23384"/>
                </a:cubicBezTo>
                <a:cubicBezTo>
                  <a:pt x="61274" y="21680"/>
                  <a:pt x="65699" y="21276"/>
                  <a:pt x="70014" y="21711"/>
                </a:cubicBezTo>
                <a:cubicBezTo>
                  <a:pt x="74328" y="22039"/>
                  <a:pt x="78390" y="23181"/>
                  <a:pt x="82161" y="24703"/>
                </a:cubicBezTo>
                <a:cubicBezTo>
                  <a:pt x="92023" y="28891"/>
                  <a:pt x="100437" y="35555"/>
                  <a:pt x="113200" y="34223"/>
                </a:cubicBezTo>
                <a:cubicBezTo>
                  <a:pt x="123355" y="33080"/>
                  <a:pt x="130607" y="27939"/>
                  <a:pt x="139890" y="25274"/>
                </a:cubicBezTo>
                <a:cubicBezTo>
                  <a:pt x="142210" y="24703"/>
                  <a:pt x="144820" y="24131"/>
                  <a:pt x="147501" y="24057"/>
                </a:cubicBezTo>
                <a:cubicBezTo>
                  <a:pt x="152253" y="23526"/>
                  <a:pt x="156949" y="23687"/>
                  <a:pt x="161583" y="24219"/>
                </a:cubicBezTo>
                <a:cubicBezTo>
                  <a:pt x="166215" y="24751"/>
                  <a:pt x="170785" y="25655"/>
                  <a:pt x="175281" y="26607"/>
                </a:cubicBezTo>
                <a:cubicBezTo>
                  <a:pt x="180076" y="27655"/>
                  <a:pt x="184767" y="28771"/>
                  <a:pt x="189451" y="29839"/>
                </a:cubicBezTo>
                <a:close/>
              </a:path>
            </a:pathLst>
          </a:custGeom>
          <a:solidFill>
            <a:srgbClr val="70B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8"/>
          <p:cNvSpPr txBox="1"/>
          <p:nvPr>
            <p:ph type="ctrTitle"/>
          </p:nvPr>
        </p:nvSpPr>
        <p:spPr>
          <a:xfrm>
            <a:off x="609600" y="2586892"/>
            <a:ext cx="10972800" cy="116449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6000"/>
              <a:buFont typeface="Calibri"/>
              <a:buNone/>
              <a:defRPr b="1" sz="6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8"/>
          <p:cNvSpPr txBox="1"/>
          <p:nvPr>
            <p:ph idx="1" type="subTitle"/>
          </p:nvPr>
        </p:nvSpPr>
        <p:spPr>
          <a:xfrm>
            <a:off x="609600" y="3907692"/>
            <a:ext cx="10972800" cy="500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lv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1" name="Google Shape;21;p38"/>
          <p:cNvSpPr txBox="1"/>
          <p:nvPr>
            <p:ph idx="12" type="sldNum"/>
          </p:nvPr>
        </p:nvSpPr>
        <p:spPr>
          <a:xfrm>
            <a:off x="9261231" y="6436382"/>
            <a:ext cx="2743200" cy="205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38"/>
          <p:cNvSpPr/>
          <p:nvPr/>
        </p:nvSpPr>
        <p:spPr>
          <a:xfrm>
            <a:off x="0" y="34633"/>
            <a:ext cx="12192000" cy="580055"/>
          </a:xfrm>
          <a:custGeom>
            <a:rect b="b" l="l" r="r" t="t"/>
            <a:pathLst>
              <a:path extrusionOk="0" h="61147" w="189451">
                <a:moveTo>
                  <a:pt x="189451" y="3109"/>
                </a:moveTo>
                <a:cubicBezTo>
                  <a:pt x="173021" y="2370"/>
                  <a:pt x="156661" y="2537"/>
                  <a:pt x="140216" y="3392"/>
                </a:cubicBezTo>
                <a:cubicBezTo>
                  <a:pt x="135923" y="3614"/>
                  <a:pt x="131627" y="3883"/>
                  <a:pt x="127313" y="4167"/>
                </a:cubicBezTo>
                <a:cubicBezTo>
                  <a:pt x="119347" y="3762"/>
                  <a:pt x="111448" y="2527"/>
                  <a:pt x="103511" y="1567"/>
                </a:cubicBezTo>
                <a:cubicBezTo>
                  <a:pt x="95573" y="605"/>
                  <a:pt x="87580" y="1"/>
                  <a:pt x="79359" y="1234"/>
                </a:cubicBezTo>
                <a:cubicBezTo>
                  <a:pt x="73731" y="3312"/>
                  <a:pt x="68059" y="4806"/>
                  <a:pt x="62358" y="5817"/>
                </a:cubicBezTo>
                <a:cubicBezTo>
                  <a:pt x="56659" y="6826"/>
                  <a:pt x="50930" y="7350"/>
                  <a:pt x="45167" y="7383"/>
                </a:cubicBezTo>
                <a:cubicBezTo>
                  <a:pt x="30144" y="3938"/>
                  <a:pt x="15100" y="2636"/>
                  <a:pt x="0" y="2483"/>
                </a:cubicBezTo>
                <a:lnTo>
                  <a:pt x="0" y="37911"/>
                </a:lnTo>
                <a:cubicBezTo>
                  <a:pt x="13949" y="35528"/>
                  <a:pt x="26722" y="47762"/>
                  <a:pt x="38860" y="55988"/>
                </a:cubicBezTo>
                <a:cubicBezTo>
                  <a:pt x="44952" y="60115"/>
                  <a:pt x="51913" y="61147"/>
                  <a:pt x="58472" y="58658"/>
                </a:cubicBezTo>
                <a:cubicBezTo>
                  <a:pt x="65257" y="55730"/>
                  <a:pt x="71205" y="49967"/>
                  <a:pt x="77441" y="44980"/>
                </a:cubicBezTo>
                <a:cubicBezTo>
                  <a:pt x="84984" y="39131"/>
                  <a:pt x="93686" y="37411"/>
                  <a:pt x="101954" y="40207"/>
                </a:cubicBezTo>
                <a:cubicBezTo>
                  <a:pt x="106196" y="41561"/>
                  <a:pt x="110441" y="43270"/>
                  <a:pt x="114709" y="44769"/>
                </a:cubicBezTo>
                <a:cubicBezTo>
                  <a:pt x="118979" y="46269"/>
                  <a:pt x="123277" y="47559"/>
                  <a:pt x="127628" y="48075"/>
                </a:cubicBezTo>
                <a:cubicBezTo>
                  <a:pt x="134880" y="48763"/>
                  <a:pt x="141842" y="47043"/>
                  <a:pt x="148382" y="44092"/>
                </a:cubicBezTo>
                <a:cubicBezTo>
                  <a:pt x="156378" y="40671"/>
                  <a:pt x="163890" y="37927"/>
                  <a:pt x="172302" y="39131"/>
                </a:cubicBezTo>
                <a:cubicBezTo>
                  <a:pt x="178342" y="40074"/>
                  <a:pt x="183947" y="42256"/>
                  <a:pt x="189451" y="44772"/>
                </a:cubicBezTo>
                <a:lnTo>
                  <a:pt x="189451" y="3109"/>
                </a:lnTo>
                <a:close/>
              </a:path>
            </a:pathLst>
          </a:custGeom>
          <a:solidFill>
            <a:srgbClr val="FAF4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8"/>
          <p:cNvSpPr/>
          <p:nvPr/>
        </p:nvSpPr>
        <p:spPr>
          <a:xfrm>
            <a:off x="0" y="51936"/>
            <a:ext cx="12192000" cy="424087"/>
          </a:xfrm>
          <a:custGeom>
            <a:rect b="b" l="l" r="r" t="t"/>
            <a:pathLst>
              <a:path extrusionOk="0" h="51554" w="189451">
                <a:moveTo>
                  <a:pt x="189451" y="160"/>
                </a:moveTo>
                <a:cubicBezTo>
                  <a:pt x="177987" y="122"/>
                  <a:pt x="166489" y="2116"/>
                  <a:pt x="154689" y="4514"/>
                </a:cubicBezTo>
                <a:cubicBezTo>
                  <a:pt x="151646" y="5277"/>
                  <a:pt x="148857" y="5277"/>
                  <a:pt x="146045" y="5267"/>
                </a:cubicBezTo>
                <a:cubicBezTo>
                  <a:pt x="141963" y="5079"/>
                  <a:pt x="137898" y="4686"/>
                  <a:pt x="133848" y="4044"/>
                </a:cubicBezTo>
                <a:cubicBezTo>
                  <a:pt x="129800" y="3401"/>
                  <a:pt x="125769" y="2510"/>
                  <a:pt x="121760" y="1295"/>
                </a:cubicBezTo>
                <a:cubicBezTo>
                  <a:pt x="116310" y="590"/>
                  <a:pt x="110874" y="212"/>
                  <a:pt x="105423" y="142"/>
                </a:cubicBezTo>
                <a:cubicBezTo>
                  <a:pt x="94519" y="1"/>
                  <a:pt x="83550" y="1081"/>
                  <a:pt x="72264" y="3752"/>
                </a:cubicBezTo>
                <a:cubicBezTo>
                  <a:pt x="68968" y="4514"/>
                  <a:pt x="65669" y="4259"/>
                  <a:pt x="62373" y="4250"/>
                </a:cubicBezTo>
                <a:cubicBezTo>
                  <a:pt x="57301" y="3752"/>
                  <a:pt x="52291" y="3116"/>
                  <a:pt x="47281" y="2660"/>
                </a:cubicBezTo>
                <a:cubicBezTo>
                  <a:pt x="42270" y="2204"/>
                  <a:pt x="37257" y="1926"/>
                  <a:pt x="32177" y="2137"/>
                </a:cubicBezTo>
                <a:cubicBezTo>
                  <a:pt x="27112" y="2257"/>
                  <a:pt x="22044" y="2515"/>
                  <a:pt x="16972" y="2798"/>
                </a:cubicBezTo>
                <a:cubicBezTo>
                  <a:pt x="11900" y="3080"/>
                  <a:pt x="6826" y="3383"/>
                  <a:pt x="1748" y="3597"/>
                </a:cubicBezTo>
                <a:cubicBezTo>
                  <a:pt x="1165" y="3623"/>
                  <a:pt x="583" y="3648"/>
                  <a:pt x="0" y="3674"/>
                </a:cubicBezTo>
                <a:lnTo>
                  <a:pt x="0" y="39329"/>
                </a:lnTo>
                <a:cubicBezTo>
                  <a:pt x="3597" y="38065"/>
                  <a:pt x="7208" y="36765"/>
                  <a:pt x="10888" y="35534"/>
                </a:cubicBezTo>
                <a:cubicBezTo>
                  <a:pt x="14819" y="34264"/>
                  <a:pt x="18815" y="33055"/>
                  <a:pt x="22864" y="32344"/>
                </a:cubicBezTo>
                <a:cubicBezTo>
                  <a:pt x="26916" y="31634"/>
                  <a:pt x="31022" y="31420"/>
                  <a:pt x="35177" y="32129"/>
                </a:cubicBezTo>
                <a:cubicBezTo>
                  <a:pt x="37518" y="32229"/>
                  <a:pt x="39800" y="32992"/>
                  <a:pt x="41830" y="33754"/>
                </a:cubicBezTo>
                <a:cubicBezTo>
                  <a:pt x="49945" y="37315"/>
                  <a:pt x="56287" y="44180"/>
                  <a:pt x="65163" y="45706"/>
                </a:cubicBezTo>
                <a:cubicBezTo>
                  <a:pt x="76322" y="47486"/>
                  <a:pt x="83678" y="38586"/>
                  <a:pt x="92301" y="32992"/>
                </a:cubicBezTo>
                <a:cubicBezTo>
                  <a:pt x="95597" y="30957"/>
                  <a:pt x="99147" y="29432"/>
                  <a:pt x="102921" y="28996"/>
                </a:cubicBezTo>
                <a:cubicBezTo>
                  <a:pt x="106693" y="28415"/>
                  <a:pt x="110561" y="28955"/>
                  <a:pt x="114120" y="31228"/>
                </a:cubicBezTo>
                <a:cubicBezTo>
                  <a:pt x="117099" y="33258"/>
                  <a:pt x="119966" y="35639"/>
                  <a:pt x="122837" y="38076"/>
                </a:cubicBezTo>
                <a:cubicBezTo>
                  <a:pt x="125712" y="40513"/>
                  <a:pt x="128592" y="43007"/>
                  <a:pt x="131598" y="45249"/>
                </a:cubicBezTo>
                <a:cubicBezTo>
                  <a:pt x="137190" y="49773"/>
                  <a:pt x="144799" y="51553"/>
                  <a:pt x="151646" y="48756"/>
                </a:cubicBezTo>
                <a:cubicBezTo>
                  <a:pt x="164224" y="43522"/>
                  <a:pt x="175024" y="29385"/>
                  <a:pt x="189451" y="32171"/>
                </a:cubicBezTo>
                <a:close/>
              </a:path>
            </a:pathLst>
          </a:custGeom>
          <a:solidFill>
            <a:srgbClr val="E6DAC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8"/>
          <p:cNvSpPr/>
          <p:nvPr/>
        </p:nvSpPr>
        <p:spPr>
          <a:xfrm>
            <a:off x="0" y="-58436"/>
            <a:ext cx="12192000" cy="425760"/>
          </a:xfrm>
          <a:custGeom>
            <a:rect b="b" l="l" r="r" t="t"/>
            <a:pathLst>
              <a:path extrusionOk="0" h="57978" w="189451">
                <a:moveTo>
                  <a:pt x="189451" y="3852"/>
                </a:moveTo>
                <a:cubicBezTo>
                  <a:pt x="173872" y="4576"/>
                  <a:pt x="158481" y="2321"/>
                  <a:pt x="143076" y="515"/>
                </a:cubicBezTo>
                <a:cubicBezTo>
                  <a:pt x="138146" y="93"/>
                  <a:pt x="133264" y="475"/>
                  <a:pt x="128413" y="1099"/>
                </a:cubicBezTo>
                <a:cubicBezTo>
                  <a:pt x="123564" y="1725"/>
                  <a:pt x="118746" y="2597"/>
                  <a:pt x="113929" y="3194"/>
                </a:cubicBezTo>
                <a:cubicBezTo>
                  <a:pt x="109874" y="3653"/>
                  <a:pt x="105810" y="4000"/>
                  <a:pt x="101722" y="4060"/>
                </a:cubicBezTo>
                <a:cubicBezTo>
                  <a:pt x="96308" y="3893"/>
                  <a:pt x="90893" y="3536"/>
                  <a:pt x="85467" y="2932"/>
                </a:cubicBezTo>
                <a:cubicBezTo>
                  <a:pt x="81210" y="2751"/>
                  <a:pt x="76961" y="2684"/>
                  <a:pt x="72719" y="2670"/>
                </a:cubicBezTo>
                <a:cubicBezTo>
                  <a:pt x="66359" y="2663"/>
                  <a:pt x="60011" y="2751"/>
                  <a:pt x="53667" y="2994"/>
                </a:cubicBezTo>
                <a:cubicBezTo>
                  <a:pt x="47325" y="3237"/>
                  <a:pt x="40990" y="3638"/>
                  <a:pt x="34654" y="4256"/>
                </a:cubicBezTo>
                <a:cubicBezTo>
                  <a:pt x="29813" y="4326"/>
                  <a:pt x="24995" y="4326"/>
                  <a:pt x="19921" y="3818"/>
                </a:cubicBezTo>
                <a:cubicBezTo>
                  <a:pt x="13164" y="2850"/>
                  <a:pt x="6577" y="1250"/>
                  <a:pt x="0" y="1"/>
                </a:cubicBezTo>
                <a:lnTo>
                  <a:pt x="0" y="36287"/>
                </a:lnTo>
                <a:cubicBezTo>
                  <a:pt x="5925" y="45495"/>
                  <a:pt x="11065" y="55960"/>
                  <a:pt x="22392" y="57662"/>
                </a:cubicBezTo>
                <a:cubicBezTo>
                  <a:pt x="27784" y="57978"/>
                  <a:pt x="32857" y="56198"/>
                  <a:pt x="36914" y="52639"/>
                </a:cubicBezTo>
                <a:cubicBezTo>
                  <a:pt x="43128" y="47426"/>
                  <a:pt x="49152" y="40052"/>
                  <a:pt x="55935" y="35156"/>
                </a:cubicBezTo>
                <a:cubicBezTo>
                  <a:pt x="59327" y="32709"/>
                  <a:pt x="62910" y="30883"/>
                  <a:pt x="66807" y="30269"/>
                </a:cubicBezTo>
                <a:cubicBezTo>
                  <a:pt x="70898" y="29754"/>
                  <a:pt x="74956" y="30771"/>
                  <a:pt x="78507" y="33058"/>
                </a:cubicBezTo>
                <a:cubicBezTo>
                  <a:pt x="84340" y="36872"/>
                  <a:pt x="89603" y="41641"/>
                  <a:pt x="95195" y="45364"/>
                </a:cubicBezTo>
                <a:cubicBezTo>
                  <a:pt x="101751" y="49039"/>
                  <a:pt x="109105" y="46751"/>
                  <a:pt x="114432" y="42174"/>
                </a:cubicBezTo>
                <a:cubicBezTo>
                  <a:pt x="122041" y="35818"/>
                  <a:pt x="131932" y="20561"/>
                  <a:pt x="142838" y="29715"/>
                </a:cubicBezTo>
                <a:cubicBezTo>
                  <a:pt x="148670" y="34546"/>
                  <a:pt x="151967" y="41157"/>
                  <a:pt x="157801" y="46496"/>
                </a:cubicBezTo>
                <a:cubicBezTo>
                  <a:pt x="167164" y="54860"/>
                  <a:pt x="178697" y="53828"/>
                  <a:pt x="189451" y="50058"/>
                </a:cubicBezTo>
                <a:lnTo>
                  <a:pt x="189451" y="3852"/>
                </a:lnTo>
                <a:close/>
              </a:path>
            </a:pathLst>
          </a:custGeom>
          <a:solidFill>
            <a:srgbClr val="CCBF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9"/>
          <p:cNvSpPr txBox="1"/>
          <p:nvPr>
            <p:ph idx="10" type="dt"/>
          </p:nvPr>
        </p:nvSpPr>
        <p:spPr>
          <a:xfrm>
            <a:off x="60960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9"/>
          <p:cNvSpPr txBox="1"/>
          <p:nvPr>
            <p:ph idx="12" type="sldNum"/>
          </p:nvPr>
        </p:nvSpPr>
        <p:spPr>
          <a:xfrm>
            <a:off x="9251461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39"/>
          <p:cNvSpPr txBox="1"/>
          <p:nvPr>
            <p:ph type="title"/>
          </p:nvPr>
        </p:nvSpPr>
        <p:spPr>
          <a:xfrm>
            <a:off x="609600" y="342901"/>
            <a:ext cx="10972800" cy="975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3600"/>
              <a:buFont typeface="Calibri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9"/>
          <p:cNvSpPr txBox="1"/>
          <p:nvPr>
            <p:ph idx="1" type="body"/>
          </p:nvPr>
        </p:nvSpPr>
        <p:spPr>
          <a:xfrm>
            <a:off x="609600" y="1375508"/>
            <a:ext cx="10972800" cy="4923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91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1pPr>
            <a:lvl2pPr indent="-4064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937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/>
            </a:lvl3pPr>
            <a:lvl4pPr indent="-3810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4pPr>
            <a:lvl5pPr indent="-3683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1_Title Slide">
    <p:bg>
      <p:bgPr>
        <a:solidFill>
          <a:schemeClr val="lt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2"/>
          <p:cNvSpPr txBox="1"/>
          <p:nvPr>
            <p:ph type="ctrTitle"/>
          </p:nvPr>
        </p:nvSpPr>
        <p:spPr>
          <a:xfrm>
            <a:off x="2432049" y="2739938"/>
            <a:ext cx="7327901" cy="10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6000"/>
              <a:buFont typeface="Calibri"/>
              <a:buNone/>
              <a:defRPr b="1" sz="6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2"/>
          <p:cNvSpPr txBox="1"/>
          <p:nvPr>
            <p:ph idx="12" type="sldNum"/>
          </p:nvPr>
        </p:nvSpPr>
        <p:spPr>
          <a:xfrm>
            <a:off x="9261231" y="6436382"/>
            <a:ext cx="2743200" cy="205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4" name="Google Shape;34;p42"/>
          <p:cNvGrpSpPr/>
          <p:nvPr/>
        </p:nvGrpSpPr>
        <p:grpSpPr>
          <a:xfrm>
            <a:off x="1043610" y="-2047259"/>
            <a:ext cx="11148390" cy="4094518"/>
            <a:chOff x="3761410" y="-1510428"/>
            <a:chExt cx="8430590" cy="3041139"/>
          </a:xfrm>
        </p:grpSpPr>
        <p:sp>
          <p:nvSpPr>
            <p:cNvPr id="35" name="Google Shape;35;p42"/>
            <p:cNvSpPr/>
            <p:nvPr/>
          </p:nvSpPr>
          <p:spPr>
            <a:xfrm flipH="1">
              <a:off x="3801441" y="-1510428"/>
              <a:ext cx="8390557" cy="3041139"/>
            </a:xfrm>
            <a:custGeom>
              <a:rect b="b" l="l" r="r" t="t"/>
              <a:pathLst>
                <a:path extrusionOk="0" h="1034401" w="2209495">
                  <a:moveTo>
                    <a:pt x="1939368" y="0"/>
                  </a:moveTo>
                  <a:cubicBezTo>
                    <a:pt x="1660488" y="60184"/>
                    <a:pt x="1675959" y="223681"/>
                    <a:pt x="1372944" y="275384"/>
                  </a:cubicBezTo>
                  <a:cubicBezTo>
                    <a:pt x="1330003" y="282716"/>
                    <a:pt x="1292375" y="285803"/>
                    <a:pt x="1258610" y="285803"/>
                  </a:cubicBezTo>
                  <a:cubicBezTo>
                    <a:pt x="1078493" y="285803"/>
                    <a:pt x="1008327" y="197954"/>
                    <a:pt x="828189" y="197954"/>
                  </a:cubicBezTo>
                  <a:cubicBezTo>
                    <a:pt x="794437" y="197954"/>
                    <a:pt x="756825" y="201038"/>
                    <a:pt x="713905" y="208362"/>
                  </a:cubicBezTo>
                  <a:cubicBezTo>
                    <a:pt x="398975" y="262132"/>
                    <a:pt x="428155" y="436663"/>
                    <a:pt x="113225" y="490403"/>
                  </a:cubicBezTo>
                  <a:cubicBezTo>
                    <a:pt x="78106" y="496405"/>
                    <a:pt x="46120" y="498973"/>
                    <a:pt x="16583" y="498973"/>
                  </a:cubicBezTo>
                  <a:cubicBezTo>
                    <a:pt x="10969" y="498973"/>
                    <a:pt x="5443" y="498880"/>
                    <a:pt x="1" y="498701"/>
                  </a:cubicBezTo>
                  <a:lnTo>
                    <a:pt x="1" y="1031383"/>
                  </a:lnTo>
                  <a:cubicBezTo>
                    <a:pt x="18174" y="1033310"/>
                    <a:pt x="37574" y="1034400"/>
                    <a:pt x="58723" y="1034400"/>
                  </a:cubicBezTo>
                  <a:cubicBezTo>
                    <a:pt x="98945" y="1034400"/>
                    <a:pt x="145493" y="1030458"/>
                    <a:pt x="201950" y="1020836"/>
                  </a:cubicBezTo>
                  <a:cubicBezTo>
                    <a:pt x="516880" y="967066"/>
                    <a:pt x="487700" y="792535"/>
                    <a:pt x="802660" y="738795"/>
                  </a:cubicBezTo>
                  <a:cubicBezTo>
                    <a:pt x="845601" y="731464"/>
                    <a:pt x="883230" y="728377"/>
                    <a:pt x="916994" y="728377"/>
                  </a:cubicBezTo>
                  <a:cubicBezTo>
                    <a:pt x="1097112" y="728377"/>
                    <a:pt x="1167278" y="816225"/>
                    <a:pt x="1347415" y="816225"/>
                  </a:cubicBezTo>
                  <a:cubicBezTo>
                    <a:pt x="1381167" y="816225"/>
                    <a:pt x="1418780" y="813141"/>
                    <a:pt x="1461700" y="805818"/>
                  </a:cubicBezTo>
                  <a:cubicBezTo>
                    <a:pt x="1776630" y="752048"/>
                    <a:pt x="1747450" y="577516"/>
                    <a:pt x="2062380" y="523777"/>
                  </a:cubicBezTo>
                  <a:cubicBezTo>
                    <a:pt x="2097468" y="517793"/>
                    <a:pt x="2129409" y="515216"/>
                    <a:pt x="2158902" y="515216"/>
                  </a:cubicBezTo>
                  <a:cubicBezTo>
                    <a:pt x="2176598" y="515216"/>
                    <a:pt x="2193412" y="516144"/>
                    <a:pt x="2209495" y="517819"/>
                  </a:cubicBezTo>
                  <a:lnTo>
                    <a:pt x="2209495" y="0"/>
                  </a:lnTo>
                  <a:close/>
                </a:path>
              </a:pathLst>
            </a:custGeom>
            <a:solidFill>
              <a:srgbClr val="DBF5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42"/>
            <p:cNvSpPr/>
            <p:nvPr/>
          </p:nvSpPr>
          <p:spPr>
            <a:xfrm flipH="1">
              <a:off x="3761410" y="0"/>
              <a:ext cx="8430590" cy="1515557"/>
            </a:xfrm>
            <a:custGeom>
              <a:rect b="b" l="l" r="r" t="t"/>
              <a:pathLst>
                <a:path extrusionOk="0" h="444445" w="1969764">
                  <a:moveTo>
                    <a:pt x="1" y="0"/>
                  </a:moveTo>
                  <a:lnTo>
                    <a:pt x="1" y="444445"/>
                  </a:lnTo>
                  <a:cubicBezTo>
                    <a:pt x="42889" y="407088"/>
                    <a:pt x="84562" y="366875"/>
                    <a:pt x="126477" y="328181"/>
                  </a:cubicBezTo>
                  <a:cubicBezTo>
                    <a:pt x="206833" y="251493"/>
                    <a:pt x="301818" y="223009"/>
                    <a:pt x="399470" y="223009"/>
                  </a:cubicBezTo>
                  <a:cubicBezTo>
                    <a:pt x="479086" y="223009"/>
                    <a:pt x="560475" y="241943"/>
                    <a:pt x="637156" y="269123"/>
                  </a:cubicBezTo>
                  <a:cubicBezTo>
                    <a:pt x="658406" y="272561"/>
                    <a:pt x="681421" y="274758"/>
                    <a:pt x="707083" y="274758"/>
                  </a:cubicBezTo>
                  <a:cubicBezTo>
                    <a:pt x="733141" y="274758"/>
                    <a:pt x="761927" y="272493"/>
                    <a:pt x="794362" y="266965"/>
                  </a:cubicBezTo>
                  <a:cubicBezTo>
                    <a:pt x="1051875" y="223013"/>
                    <a:pt x="1024701" y="60548"/>
                    <a:pt x="1282244" y="16596"/>
                  </a:cubicBezTo>
                  <a:cubicBezTo>
                    <a:pt x="1313452" y="11262"/>
                    <a:pt x="1341275" y="8964"/>
                    <a:pt x="1366533" y="8964"/>
                  </a:cubicBezTo>
                  <a:cubicBezTo>
                    <a:pt x="1393377" y="8964"/>
                    <a:pt x="1417324" y="11560"/>
                    <a:pt x="1439359" y="15867"/>
                  </a:cubicBezTo>
                  <a:cubicBezTo>
                    <a:pt x="1482156" y="24226"/>
                    <a:pt x="1517750" y="39028"/>
                    <a:pt x="1553313" y="53618"/>
                  </a:cubicBezTo>
                  <a:cubicBezTo>
                    <a:pt x="1607137" y="80721"/>
                    <a:pt x="1665708" y="94041"/>
                    <a:pt x="1723741" y="94041"/>
                  </a:cubicBezTo>
                  <a:cubicBezTo>
                    <a:pt x="1813577" y="94041"/>
                    <a:pt x="1902121" y="62122"/>
                    <a:pt x="1969764" y="0"/>
                  </a:cubicBezTo>
                  <a:close/>
                </a:path>
              </a:pathLst>
            </a:custGeom>
            <a:solidFill>
              <a:srgbClr val="96D6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" name="Google Shape;37;p42"/>
          <p:cNvGrpSpPr/>
          <p:nvPr/>
        </p:nvGrpSpPr>
        <p:grpSpPr>
          <a:xfrm>
            <a:off x="-2212" y="4564186"/>
            <a:ext cx="11025812" cy="4587626"/>
            <a:chOff x="-1" y="5337430"/>
            <a:chExt cx="8430590" cy="3041139"/>
          </a:xfrm>
        </p:grpSpPr>
        <p:sp>
          <p:nvSpPr>
            <p:cNvPr id="38" name="Google Shape;38;p42"/>
            <p:cNvSpPr/>
            <p:nvPr/>
          </p:nvSpPr>
          <p:spPr>
            <a:xfrm flipH="1" rot="10800000">
              <a:off x="0" y="5337430"/>
              <a:ext cx="8390557" cy="3041139"/>
            </a:xfrm>
            <a:custGeom>
              <a:rect b="b" l="l" r="r" t="t"/>
              <a:pathLst>
                <a:path extrusionOk="0" h="1034401" w="2209495">
                  <a:moveTo>
                    <a:pt x="1939368" y="0"/>
                  </a:moveTo>
                  <a:cubicBezTo>
                    <a:pt x="1660488" y="60184"/>
                    <a:pt x="1675959" y="223681"/>
                    <a:pt x="1372944" y="275384"/>
                  </a:cubicBezTo>
                  <a:cubicBezTo>
                    <a:pt x="1330003" y="282716"/>
                    <a:pt x="1292375" y="285803"/>
                    <a:pt x="1258610" y="285803"/>
                  </a:cubicBezTo>
                  <a:cubicBezTo>
                    <a:pt x="1078493" y="285803"/>
                    <a:pt x="1008327" y="197954"/>
                    <a:pt x="828189" y="197954"/>
                  </a:cubicBezTo>
                  <a:cubicBezTo>
                    <a:pt x="794437" y="197954"/>
                    <a:pt x="756825" y="201038"/>
                    <a:pt x="713905" y="208362"/>
                  </a:cubicBezTo>
                  <a:cubicBezTo>
                    <a:pt x="398975" y="262132"/>
                    <a:pt x="428155" y="436663"/>
                    <a:pt x="113225" y="490403"/>
                  </a:cubicBezTo>
                  <a:cubicBezTo>
                    <a:pt x="78106" y="496405"/>
                    <a:pt x="46120" y="498973"/>
                    <a:pt x="16583" y="498973"/>
                  </a:cubicBezTo>
                  <a:cubicBezTo>
                    <a:pt x="10969" y="498973"/>
                    <a:pt x="5443" y="498880"/>
                    <a:pt x="1" y="498701"/>
                  </a:cubicBezTo>
                  <a:lnTo>
                    <a:pt x="1" y="1031383"/>
                  </a:lnTo>
                  <a:cubicBezTo>
                    <a:pt x="18174" y="1033310"/>
                    <a:pt x="37574" y="1034400"/>
                    <a:pt x="58723" y="1034400"/>
                  </a:cubicBezTo>
                  <a:cubicBezTo>
                    <a:pt x="98945" y="1034400"/>
                    <a:pt x="145493" y="1030458"/>
                    <a:pt x="201950" y="1020836"/>
                  </a:cubicBezTo>
                  <a:cubicBezTo>
                    <a:pt x="516880" y="967066"/>
                    <a:pt x="487700" y="792535"/>
                    <a:pt x="802660" y="738795"/>
                  </a:cubicBezTo>
                  <a:cubicBezTo>
                    <a:pt x="845601" y="731464"/>
                    <a:pt x="883230" y="728377"/>
                    <a:pt x="916994" y="728377"/>
                  </a:cubicBezTo>
                  <a:cubicBezTo>
                    <a:pt x="1097112" y="728377"/>
                    <a:pt x="1167278" y="816225"/>
                    <a:pt x="1347415" y="816225"/>
                  </a:cubicBezTo>
                  <a:cubicBezTo>
                    <a:pt x="1381167" y="816225"/>
                    <a:pt x="1418780" y="813141"/>
                    <a:pt x="1461700" y="805818"/>
                  </a:cubicBezTo>
                  <a:cubicBezTo>
                    <a:pt x="1776630" y="752048"/>
                    <a:pt x="1747450" y="577516"/>
                    <a:pt x="2062380" y="523777"/>
                  </a:cubicBezTo>
                  <a:cubicBezTo>
                    <a:pt x="2097468" y="517793"/>
                    <a:pt x="2129409" y="515216"/>
                    <a:pt x="2158902" y="515216"/>
                  </a:cubicBezTo>
                  <a:cubicBezTo>
                    <a:pt x="2176598" y="515216"/>
                    <a:pt x="2193412" y="516144"/>
                    <a:pt x="2209495" y="517819"/>
                  </a:cubicBezTo>
                  <a:lnTo>
                    <a:pt x="2209495" y="0"/>
                  </a:lnTo>
                  <a:close/>
                </a:path>
              </a:pathLst>
            </a:custGeom>
            <a:solidFill>
              <a:srgbClr val="FAF4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42"/>
            <p:cNvSpPr/>
            <p:nvPr/>
          </p:nvSpPr>
          <p:spPr>
            <a:xfrm flipH="1" rot="10800000">
              <a:off x="-1" y="5352606"/>
              <a:ext cx="8430590" cy="1515557"/>
            </a:xfrm>
            <a:custGeom>
              <a:rect b="b" l="l" r="r" t="t"/>
              <a:pathLst>
                <a:path extrusionOk="0" h="444445" w="1969764">
                  <a:moveTo>
                    <a:pt x="1" y="0"/>
                  </a:moveTo>
                  <a:lnTo>
                    <a:pt x="1" y="444445"/>
                  </a:lnTo>
                  <a:cubicBezTo>
                    <a:pt x="42889" y="407088"/>
                    <a:pt x="84562" y="366875"/>
                    <a:pt x="126477" y="328181"/>
                  </a:cubicBezTo>
                  <a:cubicBezTo>
                    <a:pt x="206833" y="251493"/>
                    <a:pt x="301818" y="223009"/>
                    <a:pt x="399470" y="223009"/>
                  </a:cubicBezTo>
                  <a:cubicBezTo>
                    <a:pt x="479086" y="223009"/>
                    <a:pt x="560475" y="241943"/>
                    <a:pt x="637156" y="269123"/>
                  </a:cubicBezTo>
                  <a:cubicBezTo>
                    <a:pt x="658406" y="272561"/>
                    <a:pt x="681421" y="274758"/>
                    <a:pt x="707083" y="274758"/>
                  </a:cubicBezTo>
                  <a:cubicBezTo>
                    <a:pt x="733141" y="274758"/>
                    <a:pt x="761927" y="272493"/>
                    <a:pt x="794362" y="266965"/>
                  </a:cubicBezTo>
                  <a:cubicBezTo>
                    <a:pt x="1051875" y="223013"/>
                    <a:pt x="1024701" y="60548"/>
                    <a:pt x="1282244" y="16596"/>
                  </a:cubicBezTo>
                  <a:cubicBezTo>
                    <a:pt x="1313452" y="11262"/>
                    <a:pt x="1341275" y="8964"/>
                    <a:pt x="1366533" y="8964"/>
                  </a:cubicBezTo>
                  <a:cubicBezTo>
                    <a:pt x="1393377" y="8964"/>
                    <a:pt x="1417324" y="11560"/>
                    <a:pt x="1439359" y="15867"/>
                  </a:cubicBezTo>
                  <a:cubicBezTo>
                    <a:pt x="1482156" y="24226"/>
                    <a:pt x="1517750" y="39028"/>
                    <a:pt x="1553313" y="53618"/>
                  </a:cubicBezTo>
                  <a:cubicBezTo>
                    <a:pt x="1607137" y="80721"/>
                    <a:pt x="1665708" y="94041"/>
                    <a:pt x="1723741" y="94041"/>
                  </a:cubicBezTo>
                  <a:cubicBezTo>
                    <a:pt x="1813577" y="94041"/>
                    <a:pt x="1902121" y="62122"/>
                    <a:pt x="1969764" y="0"/>
                  </a:cubicBezTo>
                  <a:close/>
                </a:path>
              </a:pathLst>
            </a:custGeom>
            <a:solidFill>
              <a:srgbClr val="E6DA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1"/>
          <p:cNvSpPr txBox="1"/>
          <p:nvPr>
            <p:ph idx="1" type="body"/>
          </p:nvPr>
        </p:nvSpPr>
        <p:spPr>
          <a:xfrm>
            <a:off x="609600" y="1352062"/>
            <a:ext cx="5486400" cy="49315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41"/>
          <p:cNvSpPr txBox="1"/>
          <p:nvPr>
            <p:ph idx="2" type="body"/>
          </p:nvPr>
        </p:nvSpPr>
        <p:spPr>
          <a:xfrm>
            <a:off x="6150707" y="1352062"/>
            <a:ext cx="5431691" cy="49315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41"/>
          <p:cNvSpPr txBox="1"/>
          <p:nvPr>
            <p:ph idx="10" type="dt"/>
          </p:nvPr>
        </p:nvSpPr>
        <p:spPr>
          <a:xfrm>
            <a:off x="60960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1"/>
          <p:cNvSpPr txBox="1"/>
          <p:nvPr>
            <p:ph idx="12" type="sldNum"/>
          </p:nvPr>
        </p:nvSpPr>
        <p:spPr>
          <a:xfrm>
            <a:off x="9251461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41"/>
          <p:cNvSpPr txBox="1"/>
          <p:nvPr>
            <p:ph type="title"/>
          </p:nvPr>
        </p:nvSpPr>
        <p:spPr>
          <a:xfrm>
            <a:off x="609600" y="342901"/>
            <a:ext cx="10972800" cy="975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3600"/>
              <a:buFont typeface="Calibri"/>
              <a:buNone/>
              <a:defRPr>
                <a:solidFill>
                  <a:srgbClr val="1A0DA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7"/>
          <p:cNvSpPr txBox="1"/>
          <p:nvPr>
            <p:ph type="title"/>
          </p:nvPr>
        </p:nvSpPr>
        <p:spPr>
          <a:xfrm>
            <a:off x="609600" y="342901"/>
            <a:ext cx="10972800" cy="975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3600"/>
              <a:buFont typeface="Calibri"/>
              <a:buNone/>
              <a:defRPr b="1" i="0" sz="3600" u="none" cap="none" strike="noStrike">
                <a:solidFill>
                  <a:srgbClr val="3333C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7"/>
          <p:cNvSpPr txBox="1"/>
          <p:nvPr>
            <p:ph idx="1" type="body"/>
          </p:nvPr>
        </p:nvSpPr>
        <p:spPr>
          <a:xfrm>
            <a:off x="609600" y="1375508"/>
            <a:ext cx="10972800" cy="4923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91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3700" lvl="2" marL="1371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7"/>
          <p:cNvSpPr txBox="1"/>
          <p:nvPr>
            <p:ph idx="10" type="dt"/>
          </p:nvPr>
        </p:nvSpPr>
        <p:spPr>
          <a:xfrm>
            <a:off x="60960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7"/>
          <p:cNvSpPr txBox="1"/>
          <p:nvPr>
            <p:ph idx="12" type="sldNum"/>
          </p:nvPr>
        </p:nvSpPr>
        <p:spPr>
          <a:xfrm>
            <a:off x="9251461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1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7.png"/><Relationship Id="rId4" Type="http://schemas.openxmlformats.org/officeDocument/2006/relationships/image" Target="../media/image1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3.png"/><Relationship Id="rId4" Type="http://schemas.openxmlformats.org/officeDocument/2006/relationships/image" Target="../media/image19.png"/><Relationship Id="rId5" Type="http://schemas.openxmlformats.org/officeDocument/2006/relationships/image" Target="../media/image3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4.png"/><Relationship Id="rId4" Type="http://schemas.openxmlformats.org/officeDocument/2006/relationships/image" Target="../media/image2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3.png"/><Relationship Id="rId4" Type="http://schemas.openxmlformats.org/officeDocument/2006/relationships/image" Target="../media/image3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9.png"/><Relationship Id="rId4" Type="http://schemas.openxmlformats.org/officeDocument/2006/relationships/image" Target="../media/image3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 txBox="1"/>
          <p:nvPr>
            <p:ph type="ctrTitle"/>
          </p:nvPr>
        </p:nvSpPr>
        <p:spPr>
          <a:xfrm>
            <a:off x="952500" y="2082367"/>
            <a:ext cx="10287000" cy="19597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dk1"/>
                </a:solidFill>
              </a:rPr>
              <a:t>ClinicalPath: a Visualization Tool to Improve the Evaluation of Electronic Health Records in Clinical Decision-Making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3" name="Google Shape;53;p1"/>
          <p:cNvSpPr txBox="1"/>
          <p:nvPr>
            <p:ph idx="1" type="subTitle"/>
          </p:nvPr>
        </p:nvSpPr>
        <p:spPr>
          <a:xfrm>
            <a:off x="998764" y="5230053"/>
            <a:ext cx="10194471" cy="6775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2400"/>
              <a:buNone/>
            </a:pPr>
            <a:r>
              <a:rPr b="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</a:t>
            </a:r>
            <a:r>
              <a:rPr b="0" lang="en-US" sz="1600"/>
              <a:t>10</a:t>
            </a:r>
            <a:r>
              <a:rPr b="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/>
          </a:p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2400"/>
              <a:buNone/>
            </a:pPr>
            <a:r>
              <a:rPr b="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413540003 Dao Cong Tinh </a:t>
            </a:r>
            <a:r>
              <a:rPr b="0" i="0" lang="en-US" sz="1600">
                <a:latin typeface="KaiTi"/>
                <a:ea typeface="KaiTi"/>
                <a:cs typeface="KaiTi"/>
                <a:sym typeface="KaiTi"/>
              </a:rPr>
              <a:t>桃公信, </a:t>
            </a:r>
            <a:r>
              <a:rPr b="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413540004 Phan Nguyen Minh Thao </a:t>
            </a:r>
            <a:r>
              <a:rPr b="0" lang="en-US" sz="1600">
                <a:solidFill>
                  <a:schemeClr val="dk1"/>
                </a:solidFill>
                <a:latin typeface="KaiTi"/>
                <a:ea typeface="KaiTi"/>
                <a:cs typeface="KaiTi"/>
                <a:sym typeface="KaiTi"/>
              </a:rPr>
              <a:t>潘阮明草, </a:t>
            </a:r>
            <a:r>
              <a:rPr b="0" i="0" lang="en-US" sz="1600">
                <a:latin typeface="Calibri"/>
                <a:ea typeface="Calibri"/>
                <a:cs typeface="Calibri"/>
                <a:sym typeface="Calibri"/>
              </a:rPr>
              <a:t>313540015 Le Minh Bang </a:t>
            </a:r>
            <a:r>
              <a:rPr b="0" i="0" lang="en-US" sz="1600">
                <a:latin typeface="KaiTi"/>
                <a:ea typeface="KaiTi"/>
                <a:cs typeface="KaiTi"/>
                <a:sym typeface="KaiTi"/>
              </a:rPr>
              <a:t>黎明朋</a:t>
            </a:r>
            <a:endParaRPr b="0" sz="1600">
              <a:solidFill>
                <a:schemeClr val="dk1"/>
              </a:solidFill>
              <a:latin typeface="KaiTi"/>
              <a:ea typeface="KaiTi"/>
              <a:cs typeface="KaiTi"/>
              <a:sym typeface="KaiTi"/>
            </a:endParaRPr>
          </a:p>
        </p:txBody>
      </p:sp>
      <p:sp>
        <p:nvSpPr>
          <p:cNvPr id="54" name="Google Shape;54;p1"/>
          <p:cNvSpPr txBox="1"/>
          <p:nvPr/>
        </p:nvSpPr>
        <p:spPr>
          <a:xfrm>
            <a:off x="1447800" y="4164631"/>
            <a:ext cx="9296400" cy="7570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Claudio D. G. Linhares, Daniel M. Lima, Jean R. Ponciano, Mauro M. Olivatto, Marco A. Gutierrez,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Jorge Poco, Caetano Traina Jr., and Agma J. M. Traina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2318374" y="1439033"/>
            <a:ext cx="7200901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IEEE Transactions on Visualization &amp; Computer Graphics (TVCG-22)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018152c2a7_0_14"/>
          <p:cNvSpPr txBox="1"/>
          <p:nvPr>
            <p:ph idx="12" type="sldNum"/>
          </p:nvPr>
        </p:nvSpPr>
        <p:spPr>
          <a:xfrm>
            <a:off x="9251461" y="635634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g3018152c2a7_0_14"/>
          <p:cNvSpPr txBox="1"/>
          <p:nvPr>
            <p:ph type="title"/>
          </p:nvPr>
        </p:nvSpPr>
        <p:spPr>
          <a:xfrm>
            <a:off x="609600" y="342901"/>
            <a:ext cx="109728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>
                <a:solidFill>
                  <a:schemeClr val="dk1"/>
                </a:solidFill>
              </a:rPr>
              <a:t>Outline</a:t>
            </a:r>
            <a:endParaRPr/>
          </a:p>
        </p:txBody>
      </p:sp>
      <p:sp>
        <p:nvSpPr>
          <p:cNvPr id="63" name="Google Shape;63;g3018152c2a7_0_14"/>
          <p:cNvSpPr txBox="1"/>
          <p:nvPr>
            <p:ph idx="1" type="body"/>
          </p:nvPr>
        </p:nvSpPr>
        <p:spPr>
          <a:xfrm>
            <a:off x="609600" y="1375508"/>
            <a:ext cx="10972800" cy="49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191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-US"/>
              <a:t>Introduction</a:t>
            </a:r>
            <a:endParaRPr/>
          </a:p>
          <a:p>
            <a:pPr indent="-4191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-US"/>
              <a:t>Related Work</a:t>
            </a:r>
            <a:endParaRPr/>
          </a:p>
          <a:p>
            <a:pPr indent="-4191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-US"/>
              <a:t>ClinicalPath</a:t>
            </a:r>
            <a:endParaRPr/>
          </a:p>
          <a:p>
            <a:pPr indent="-4191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-US"/>
              <a:t>Case Study</a:t>
            </a:r>
            <a:endParaRPr/>
          </a:p>
          <a:p>
            <a:pPr indent="-4191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-US"/>
              <a:t>User Validation</a:t>
            </a:r>
            <a:endParaRPr/>
          </a:p>
          <a:p>
            <a:pPr indent="-4191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-US"/>
              <a:t>Conclusion</a:t>
            </a:r>
            <a:endParaRPr/>
          </a:p>
        </p:txBody>
      </p:sp>
      <p:pic>
        <p:nvPicPr>
          <p:cNvPr descr="A picture containing logo&#10;&#10;Description automatically generated" id="64" name="Google Shape;64;g3018152c2a7_0_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37261" y="4796692"/>
            <a:ext cx="1371601" cy="1371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"/>
          <p:cNvSpPr txBox="1"/>
          <p:nvPr>
            <p:ph type="ctrTitle"/>
          </p:nvPr>
        </p:nvSpPr>
        <p:spPr>
          <a:xfrm>
            <a:off x="2432050" y="2204681"/>
            <a:ext cx="7327800" cy="162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100000"/>
              <a:buFont typeface="Calibri"/>
              <a:buNone/>
            </a:pPr>
            <a:r>
              <a:rPr lang="en-US"/>
              <a:t>01.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100000"/>
              <a:buFont typeface="Calibri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70" name="Google Shape;70;p6"/>
          <p:cNvSpPr txBox="1"/>
          <p:nvPr>
            <p:ph idx="12" type="sldNum"/>
          </p:nvPr>
        </p:nvSpPr>
        <p:spPr>
          <a:xfrm>
            <a:off x="9261231" y="6436382"/>
            <a:ext cx="2743200" cy="205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1" name="Google Shape;7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8799" y="3938395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018152c2a7_0_23"/>
          <p:cNvSpPr txBox="1"/>
          <p:nvPr>
            <p:ph idx="12" type="sldNum"/>
          </p:nvPr>
        </p:nvSpPr>
        <p:spPr>
          <a:xfrm>
            <a:off x="9251461" y="635634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" name="Google Shape;78;g3018152c2a7_0_23"/>
          <p:cNvSpPr txBox="1"/>
          <p:nvPr>
            <p:ph type="title"/>
          </p:nvPr>
        </p:nvSpPr>
        <p:spPr>
          <a:xfrm>
            <a:off x="609600" y="342901"/>
            <a:ext cx="109728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3600"/>
              <a:buFont typeface="Calibri"/>
              <a:buNone/>
            </a:pPr>
            <a:r>
              <a:rPr lang="en-US"/>
              <a:t>Introduction - </a:t>
            </a:r>
            <a:r>
              <a:rPr lang="en-US">
                <a:solidFill>
                  <a:srgbClr val="C00000"/>
                </a:solidFill>
              </a:rPr>
              <a:t>Physician’ daily procedure</a:t>
            </a:r>
            <a:endParaRPr/>
          </a:p>
        </p:txBody>
      </p:sp>
      <p:pic>
        <p:nvPicPr>
          <p:cNvPr id="79" name="Google Shape;79;g3018152c2a7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5625" y="2579250"/>
            <a:ext cx="2040550" cy="204055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g3018152c2a7_0_23"/>
          <p:cNvSpPr/>
          <p:nvPr/>
        </p:nvSpPr>
        <p:spPr>
          <a:xfrm>
            <a:off x="4274300" y="1705150"/>
            <a:ext cx="4448100" cy="775800"/>
          </a:xfrm>
          <a:prstGeom prst="roundRect">
            <a:avLst>
              <a:gd fmla="val 16667" name="adj"/>
            </a:avLst>
          </a:prstGeom>
          <a:solidFill>
            <a:srgbClr val="DBF5F8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Tight, challenging schedules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g3018152c2a7_0_23"/>
          <p:cNvSpPr/>
          <p:nvPr/>
        </p:nvSpPr>
        <p:spPr>
          <a:xfrm>
            <a:off x="4274300" y="2833425"/>
            <a:ext cx="4448100" cy="775800"/>
          </a:xfrm>
          <a:prstGeom prst="roundRect">
            <a:avLst>
              <a:gd fmla="val 16667" name="adj"/>
            </a:avLst>
          </a:prstGeom>
          <a:solidFill>
            <a:srgbClr val="DBF5F8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High-stakes, quick decisions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g3018152c2a7_0_23"/>
          <p:cNvSpPr/>
          <p:nvPr/>
        </p:nvSpPr>
        <p:spPr>
          <a:xfrm>
            <a:off x="4274300" y="3961700"/>
            <a:ext cx="4448100" cy="775800"/>
          </a:xfrm>
          <a:prstGeom prst="roundRect">
            <a:avLst>
              <a:gd fmla="val 16667" name="adj"/>
            </a:avLst>
          </a:prstGeom>
          <a:solidFill>
            <a:srgbClr val="DBF5F8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Disorientation in long-term cases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g3018152c2a7_0_23"/>
          <p:cNvSpPr/>
          <p:nvPr/>
        </p:nvSpPr>
        <p:spPr>
          <a:xfrm>
            <a:off x="4274300" y="5089975"/>
            <a:ext cx="4448100" cy="775800"/>
          </a:xfrm>
          <a:prstGeom prst="roundRect">
            <a:avLst>
              <a:gd fmla="val 16667" name="adj"/>
            </a:avLst>
          </a:prstGeom>
          <a:solidFill>
            <a:srgbClr val="DBF5F8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COVID limits interpretation tim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" name="Google Shape;84;g3018152c2a7_0_23"/>
          <p:cNvCxnSpPr>
            <a:stCxn id="79" idx="3"/>
            <a:endCxn id="80" idx="1"/>
          </p:cNvCxnSpPr>
          <p:nvPr/>
        </p:nvCxnSpPr>
        <p:spPr>
          <a:xfrm flipH="1" rot="10800000">
            <a:off x="3156175" y="2092925"/>
            <a:ext cx="1118100" cy="150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" name="Google Shape;85;g3018152c2a7_0_23"/>
          <p:cNvCxnSpPr>
            <a:stCxn id="79" idx="3"/>
            <a:endCxn id="81" idx="1"/>
          </p:cNvCxnSpPr>
          <p:nvPr/>
        </p:nvCxnSpPr>
        <p:spPr>
          <a:xfrm flipH="1" rot="10800000">
            <a:off x="3156175" y="3221225"/>
            <a:ext cx="1118100" cy="378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" name="Google Shape;86;g3018152c2a7_0_23"/>
          <p:cNvCxnSpPr>
            <a:stCxn id="79" idx="3"/>
            <a:endCxn id="82" idx="1"/>
          </p:cNvCxnSpPr>
          <p:nvPr/>
        </p:nvCxnSpPr>
        <p:spPr>
          <a:xfrm>
            <a:off x="3156175" y="3599525"/>
            <a:ext cx="1118100" cy="750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" name="Google Shape;87;g3018152c2a7_0_23"/>
          <p:cNvCxnSpPr>
            <a:stCxn id="79" idx="3"/>
            <a:endCxn id="83" idx="1"/>
          </p:cNvCxnSpPr>
          <p:nvPr/>
        </p:nvCxnSpPr>
        <p:spPr>
          <a:xfrm>
            <a:off x="3156175" y="3599525"/>
            <a:ext cx="1118100" cy="1878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" name="Google Shape;88;g3018152c2a7_0_23"/>
          <p:cNvSpPr/>
          <p:nvPr/>
        </p:nvSpPr>
        <p:spPr>
          <a:xfrm>
            <a:off x="8919675" y="1705150"/>
            <a:ext cx="973800" cy="41607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g3018152c2a7_0_23"/>
          <p:cNvSpPr txBox="1"/>
          <p:nvPr/>
        </p:nvSpPr>
        <p:spPr>
          <a:xfrm>
            <a:off x="9403163" y="4076975"/>
            <a:ext cx="3000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Decision-making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 tools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&#10;&#10;Description automatically generated" id="90" name="Google Shape;90;g3018152c2a7_0_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95277" y="3091618"/>
            <a:ext cx="1015800" cy="101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018152c2a7_0_70"/>
          <p:cNvSpPr txBox="1"/>
          <p:nvPr>
            <p:ph idx="12" type="sldNum"/>
          </p:nvPr>
        </p:nvSpPr>
        <p:spPr>
          <a:xfrm>
            <a:off x="9251461" y="635634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7" name="Google Shape;97;g3018152c2a7_0_70"/>
          <p:cNvSpPr txBox="1"/>
          <p:nvPr>
            <p:ph type="title"/>
          </p:nvPr>
        </p:nvSpPr>
        <p:spPr>
          <a:xfrm>
            <a:off x="609600" y="342901"/>
            <a:ext cx="109728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3600"/>
              <a:buFont typeface="Calibri"/>
              <a:buNone/>
            </a:pPr>
            <a:r>
              <a:rPr lang="en-US"/>
              <a:t>Introduction - </a:t>
            </a:r>
            <a:r>
              <a:rPr lang="en-US">
                <a:solidFill>
                  <a:srgbClr val="C00000"/>
                </a:solidFill>
              </a:rPr>
              <a:t>Electrical Health Record Systems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98" name="Google Shape;98;g3018152c2a7_0_70"/>
          <p:cNvSpPr txBox="1"/>
          <p:nvPr/>
        </p:nvSpPr>
        <p:spPr>
          <a:xfrm>
            <a:off x="98700" y="5781875"/>
            <a:ext cx="11994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A. Rind, T. D. Wang, W. Aigner, S. Miksch, K. Wongsuphasawat, C. Plaisant, and B. Shneiderman. Interactive information visualization to explore and query electronic health records. Found. Trends Hum.-Comput. Interact., 5(3):207–298, Feb. 2013. doi: 10.1561/1100000039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N. Rostamzadeh, S. Abdullah, and K. Sedig. Data-driven activities involving electronic health records: An activity and task analysis framework for interactive visualization tools. Multimodal Technologies and Interaction, 4:7, 03 2020. doi: 10.3390/mti4010007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 Barriviera, Rodolfo abd Maziero and C. Trelha. Analysis of medical records management in Brazilian basic healthcare units: A qualitative approach. In HEALTHINFO 2017, pp. 46–51, 2017.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&#10;&#10;Description automatically generated" id="99" name="Google Shape;99;g3018152c2a7_0_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9477" y="3042293"/>
            <a:ext cx="1015800" cy="101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3018152c2a7_0_70"/>
          <p:cNvSpPr/>
          <p:nvPr/>
        </p:nvSpPr>
        <p:spPr>
          <a:xfrm>
            <a:off x="522300" y="1699476"/>
            <a:ext cx="4448100" cy="557400"/>
          </a:xfrm>
          <a:prstGeom prst="roundRect">
            <a:avLst>
              <a:gd fmla="val 16667" name="adj"/>
            </a:avLst>
          </a:prstGeom>
          <a:solidFill>
            <a:srgbClr val="DBF5F8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Store patient history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g3018152c2a7_0_70"/>
          <p:cNvSpPr/>
          <p:nvPr/>
        </p:nvSpPr>
        <p:spPr>
          <a:xfrm>
            <a:off x="522300" y="2495283"/>
            <a:ext cx="4448100" cy="557400"/>
          </a:xfrm>
          <a:prstGeom prst="roundRect">
            <a:avLst>
              <a:gd fmla="val 16667" name="adj"/>
            </a:avLst>
          </a:prstGeom>
          <a:solidFill>
            <a:srgbClr val="DBF5F8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Reduces analysis time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018152c2a7_0_70"/>
          <p:cNvSpPr/>
          <p:nvPr/>
        </p:nvSpPr>
        <p:spPr>
          <a:xfrm>
            <a:off x="522300" y="3291075"/>
            <a:ext cx="4448100" cy="557400"/>
          </a:xfrm>
          <a:prstGeom prst="roundRect">
            <a:avLst>
              <a:gd fmla="val 16667" name="adj"/>
            </a:avLst>
          </a:prstGeom>
          <a:solidFill>
            <a:srgbClr val="DBF5F8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Enhances perception [1]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3018152c2a7_0_70"/>
          <p:cNvSpPr/>
          <p:nvPr/>
        </p:nvSpPr>
        <p:spPr>
          <a:xfrm>
            <a:off x="522300" y="4086867"/>
            <a:ext cx="4448100" cy="557400"/>
          </a:xfrm>
          <a:prstGeom prst="roundRect">
            <a:avLst>
              <a:gd fmla="val 16667" name="adj"/>
            </a:avLst>
          </a:prstGeom>
          <a:solidFill>
            <a:srgbClr val="DBF5F8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Prediction and monitoring [2]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" name="Google Shape;104;g3018152c2a7_0_70"/>
          <p:cNvCxnSpPr>
            <a:stCxn id="100" idx="3"/>
            <a:endCxn id="99" idx="1"/>
          </p:cNvCxnSpPr>
          <p:nvPr/>
        </p:nvCxnSpPr>
        <p:spPr>
          <a:xfrm>
            <a:off x="4970400" y="1978176"/>
            <a:ext cx="819000" cy="1572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" name="Google Shape;105;g3018152c2a7_0_70"/>
          <p:cNvCxnSpPr>
            <a:stCxn id="101" idx="3"/>
            <a:endCxn id="99" idx="1"/>
          </p:cNvCxnSpPr>
          <p:nvPr/>
        </p:nvCxnSpPr>
        <p:spPr>
          <a:xfrm>
            <a:off x="4970400" y="2773983"/>
            <a:ext cx="819000" cy="776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" name="Google Shape;106;g3018152c2a7_0_70"/>
          <p:cNvCxnSpPr>
            <a:stCxn id="102" idx="3"/>
            <a:endCxn id="99" idx="1"/>
          </p:cNvCxnSpPr>
          <p:nvPr/>
        </p:nvCxnSpPr>
        <p:spPr>
          <a:xfrm flipH="1" rot="10800000">
            <a:off x="4970400" y="3550275"/>
            <a:ext cx="819000" cy="19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" name="Google Shape;107;g3018152c2a7_0_70"/>
          <p:cNvCxnSpPr>
            <a:stCxn id="103" idx="3"/>
            <a:endCxn id="99" idx="1"/>
          </p:cNvCxnSpPr>
          <p:nvPr/>
        </p:nvCxnSpPr>
        <p:spPr>
          <a:xfrm flipH="1" rot="10800000">
            <a:off x="4970400" y="3550167"/>
            <a:ext cx="819000" cy="815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" name="Google Shape;108;g3018152c2a7_0_70"/>
          <p:cNvSpPr/>
          <p:nvPr/>
        </p:nvSpPr>
        <p:spPr>
          <a:xfrm>
            <a:off x="522300" y="4846167"/>
            <a:ext cx="4448100" cy="557400"/>
          </a:xfrm>
          <a:prstGeom prst="roundRect">
            <a:avLst>
              <a:gd fmla="val 16667" name="adj"/>
            </a:avLst>
          </a:prstGeom>
          <a:solidFill>
            <a:srgbClr val="DBF5F8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Visualization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g3018152c2a7_0_70"/>
          <p:cNvCxnSpPr>
            <a:stCxn id="108" idx="3"/>
            <a:endCxn id="99" idx="1"/>
          </p:cNvCxnSpPr>
          <p:nvPr/>
        </p:nvCxnSpPr>
        <p:spPr>
          <a:xfrm flipH="1" rot="10800000">
            <a:off x="4970400" y="3550167"/>
            <a:ext cx="819000" cy="1574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" name="Google Shape;110;g3018152c2a7_0_70"/>
          <p:cNvSpPr/>
          <p:nvPr/>
        </p:nvSpPr>
        <p:spPr>
          <a:xfrm>
            <a:off x="7267250" y="2828601"/>
            <a:ext cx="4448100" cy="557400"/>
          </a:xfrm>
          <a:prstGeom prst="roundRect">
            <a:avLst>
              <a:gd fmla="val 16667" name="adj"/>
            </a:avLst>
          </a:prstGeom>
          <a:solidFill>
            <a:srgbClr val="DBF5F8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Available developed areas [3]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3018152c2a7_0_70"/>
          <p:cNvSpPr/>
          <p:nvPr/>
        </p:nvSpPr>
        <p:spPr>
          <a:xfrm>
            <a:off x="7267250" y="3624408"/>
            <a:ext cx="4448100" cy="557400"/>
          </a:xfrm>
          <a:prstGeom prst="roundRect">
            <a:avLst>
              <a:gd fmla="val 16667" name="adj"/>
            </a:avLst>
          </a:prstGeom>
          <a:solidFill>
            <a:srgbClr val="DBF5F8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Lack of individual analysis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" name="Google Shape;112;g3018152c2a7_0_70"/>
          <p:cNvCxnSpPr>
            <a:stCxn id="99" idx="3"/>
            <a:endCxn id="110" idx="1"/>
          </p:cNvCxnSpPr>
          <p:nvPr/>
        </p:nvCxnSpPr>
        <p:spPr>
          <a:xfrm flipH="1" rot="10800000">
            <a:off x="6805277" y="3107393"/>
            <a:ext cx="462000" cy="442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" name="Google Shape;113;g3018152c2a7_0_70"/>
          <p:cNvCxnSpPr>
            <a:stCxn id="99" idx="3"/>
            <a:endCxn id="111" idx="1"/>
          </p:cNvCxnSpPr>
          <p:nvPr/>
        </p:nvCxnSpPr>
        <p:spPr>
          <a:xfrm>
            <a:off x="6805277" y="3550193"/>
            <a:ext cx="462000" cy="352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4" name="Google Shape;114;g3018152c2a7_0_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22900" y="2885900"/>
            <a:ext cx="442801" cy="442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g3018152c2a7_0_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22900" y="3681700"/>
            <a:ext cx="442801" cy="442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g3018152c2a7_0_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600" y="1747175"/>
            <a:ext cx="462001" cy="46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g3018152c2a7_0_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600" y="2542975"/>
            <a:ext cx="462001" cy="46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g3018152c2a7_0_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600" y="3338775"/>
            <a:ext cx="462001" cy="46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3018152c2a7_0_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600" y="4116325"/>
            <a:ext cx="462001" cy="46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g3018152c2a7_0_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600" y="4882675"/>
            <a:ext cx="462001" cy="461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"/>
          <p:cNvSpPr txBox="1"/>
          <p:nvPr>
            <p:ph type="ctrTitle"/>
          </p:nvPr>
        </p:nvSpPr>
        <p:spPr>
          <a:xfrm>
            <a:off x="2432049" y="2739938"/>
            <a:ext cx="7327901" cy="10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100000"/>
              <a:buFont typeface="Calibri"/>
              <a:buNone/>
            </a:pPr>
            <a:r>
              <a:rPr lang="en-US"/>
              <a:t>02.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100000"/>
              <a:buFont typeface="Calibri"/>
              <a:buNone/>
            </a:pPr>
            <a:r>
              <a:rPr lang="en-US"/>
              <a:t>Related Work</a:t>
            </a:r>
            <a:endParaRPr/>
          </a:p>
        </p:txBody>
      </p:sp>
      <p:sp>
        <p:nvSpPr>
          <p:cNvPr id="126" name="Google Shape;126;p7"/>
          <p:cNvSpPr txBox="1"/>
          <p:nvPr>
            <p:ph idx="12" type="sldNum"/>
          </p:nvPr>
        </p:nvSpPr>
        <p:spPr>
          <a:xfrm>
            <a:off x="9261231" y="6436382"/>
            <a:ext cx="2743200" cy="205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Icon&#10;&#10;Description automatically generated" id="127" name="Google Shape;12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8800" y="3936075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"/>
          <p:cNvSpPr txBox="1"/>
          <p:nvPr>
            <p:ph idx="12" type="sldNum"/>
          </p:nvPr>
        </p:nvSpPr>
        <p:spPr>
          <a:xfrm>
            <a:off x="9251461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" name="Google Shape;134;p9"/>
          <p:cNvSpPr txBox="1"/>
          <p:nvPr>
            <p:ph type="title"/>
          </p:nvPr>
        </p:nvSpPr>
        <p:spPr>
          <a:xfrm>
            <a:off x="609600" y="342901"/>
            <a:ext cx="10972800" cy="975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3600"/>
              <a:buFont typeface="Calibri"/>
              <a:buNone/>
            </a:pPr>
            <a:r>
              <a:rPr lang="en-US"/>
              <a:t>Related Work - </a:t>
            </a:r>
            <a:r>
              <a:rPr lang="en-US">
                <a:solidFill>
                  <a:srgbClr val="C00000"/>
                </a:solidFill>
              </a:rPr>
              <a:t>EHR Systems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135" name="Google Shape;135;p9"/>
          <p:cNvSpPr txBox="1"/>
          <p:nvPr>
            <p:ph idx="1" type="body"/>
          </p:nvPr>
        </p:nvSpPr>
        <p:spPr>
          <a:xfrm>
            <a:off x="609600" y="1375500"/>
            <a:ext cx="5492100" cy="49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60375" lvl="0" marL="460375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b="1" lang="en-US" sz="2600"/>
              <a:t>Population-based tools: </a:t>
            </a:r>
            <a:r>
              <a:rPr lang="en-US" sz="2200">
                <a:solidFill>
                  <a:srgbClr val="0000FF"/>
                </a:solidFill>
              </a:rPr>
              <a:t>Simultaneously visualized patient records</a:t>
            </a:r>
            <a:endParaRPr sz="2200">
              <a:solidFill>
                <a:srgbClr val="0000FF"/>
              </a:solidFill>
            </a:endParaRPr>
          </a:p>
          <a:p>
            <a:pPr indent="-357187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▪"/>
            </a:pPr>
            <a:r>
              <a:rPr lang="en-US" sz="2000"/>
              <a:t>LifeLines2 [Wang et al. 2009]</a:t>
            </a:r>
            <a:endParaRPr sz="2000"/>
          </a:p>
          <a:p>
            <a:pPr indent="-357187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▪"/>
            </a:pPr>
            <a:r>
              <a:rPr lang="en-US" sz="2000"/>
              <a:t>VISITORS [Klimov et al. 2010]</a:t>
            </a:r>
            <a:endParaRPr/>
          </a:p>
        </p:txBody>
      </p:sp>
      <p:sp>
        <p:nvSpPr>
          <p:cNvPr id="136" name="Google Shape;136;p9"/>
          <p:cNvSpPr txBox="1"/>
          <p:nvPr>
            <p:ph idx="1" type="body"/>
          </p:nvPr>
        </p:nvSpPr>
        <p:spPr>
          <a:xfrm>
            <a:off x="5904250" y="1359075"/>
            <a:ext cx="5842800" cy="49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60375" lvl="0" marL="460375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b="1" lang="en-US" sz="2600"/>
              <a:t>Single-patient tools: </a:t>
            </a:r>
            <a:endParaRPr b="1" sz="2600"/>
          </a:p>
          <a:p>
            <a:pPr indent="0" lvl="0" marL="460375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2200">
                <a:solidFill>
                  <a:srgbClr val="0000FF"/>
                </a:solidFill>
              </a:rPr>
              <a:t>Local behaviors of visualizing a patient record</a:t>
            </a:r>
            <a:endParaRPr sz="2200">
              <a:solidFill>
                <a:srgbClr val="0000FF"/>
              </a:solidFill>
            </a:endParaRPr>
          </a:p>
          <a:p>
            <a:pPr indent="-357187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Char char="▪"/>
            </a:pPr>
            <a:r>
              <a:rPr lang="en-US" sz="2000"/>
              <a:t>CareVis [Algner et al. 2005]</a:t>
            </a:r>
            <a:endParaRPr sz="2000"/>
          </a:p>
          <a:p>
            <a:pPr indent="-357187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Char char="▪"/>
            </a:pPr>
            <a:r>
              <a:rPr lang="en-US" sz="2000"/>
              <a:t>MIVA [Faiola et al. 2011]</a:t>
            </a:r>
            <a:endParaRPr sz="2000"/>
          </a:p>
          <a:p>
            <a:pPr indent="-357187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Char char="▪"/>
            </a:pPr>
            <a:r>
              <a:rPr lang="en-US" sz="2000"/>
              <a:t>VisuExplore [Rind et al. 2011]</a:t>
            </a:r>
            <a:endParaRPr sz="2000"/>
          </a:p>
          <a:p>
            <a:pPr indent="-357187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Char char="▪"/>
            </a:pPr>
            <a:r>
              <a:rPr lang="en-US" sz="2000"/>
              <a:t>HARVEST [Hisrsch et al. 2015]</a:t>
            </a:r>
            <a:endParaRPr sz="2000"/>
          </a:p>
          <a:p>
            <a:pPr indent="-357187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Char char="▪"/>
            </a:pPr>
            <a:r>
              <a:rPr lang="en-US" sz="2000"/>
              <a:t>[Dabek et al. 2017]</a:t>
            </a:r>
            <a:endParaRPr sz="2000"/>
          </a:p>
        </p:txBody>
      </p:sp>
      <p:pic>
        <p:nvPicPr>
          <p:cNvPr id="137" name="Google Shape;13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8424" y="3501825"/>
            <a:ext cx="2743199" cy="278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72217" y="2932899"/>
            <a:ext cx="1262070" cy="1965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018152c2a7_0_127"/>
          <p:cNvSpPr txBox="1"/>
          <p:nvPr>
            <p:ph idx="12" type="sldNum"/>
          </p:nvPr>
        </p:nvSpPr>
        <p:spPr>
          <a:xfrm>
            <a:off x="9251461" y="635634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" name="Google Shape;145;g3018152c2a7_0_127"/>
          <p:cNvSpPr txBox="1"/>
          <p:nvPr>
            <p:ph type="title"/>
          </p:nvPr>
        </p:nvSpPr>
        <p:spPr>
          <a:xfrm>
            <a:off x="609600" y="342901"/>
            <a:ext cx="109728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3600"/>
              <a:buFont typeface="Calibri"/>
              <a:buNone/>
            </a:pPr>
            <a:r>
              <a:rPr lang="en-US"/>
              <a:t>Related Work - </a:t>
            </a:r>
            <a:r>
              <a:rPr lang="en-US">
                <a:solidFill>
                  <a:srgbClr val="C00000"/>
                </a:solidFill>
              </a:rPr>
              <a:t>EHR Systems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146" name="Google Shape;146;g3018152c2a7_0_127"/>
          <p:cNvSpPr txBox="1"/>
          <p:nvPr>
            <p:ph idx="1" type="body"/>
          </p:nvPr>
        </p:nvSpPr>
        <p:spPr>
          <a:xfrm>
            <a:off x="609600" y="1375500"/>
            <a:ext cx="5492100" cy="49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60375" lvl="0" marL="460375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b="1" lang="en-US" sz="2600"/>
              <a:t>Population-based tools: </a:t>
            </a:r>
            <a:r>
              <a:rPr lang="en-US" sz="2200">
                <a:solidFill>
                  <a:srgbClr val="0000FF"/>
                </a:solidFill>
              </a:rPr>
              <a:t>Simultaneously visualized patient records</a:t>
            </a:r>
            <a:endParaRPr/>
          </a:p>
        </p:txBody>
      </p:sp>
      <p:sp>
        <p:nvSpPr>
          <p:cNvPr id="147" name="Google Shape;147;g3018152c2a7_0_127"/>
          <p:cNvSpPr txBox="1"/>
          <p:nvPr>
            <p:ph idx="1" type="body"/>
          </p:nvPr>
        </p:nvSpPr>
        <p:spPr>
          <a:xfrm>
            <a:off x="5904250" y="1359075"/>
            <a:ext cx="5842800" cy="49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60375" lvl="0" marL="460375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b="1" lang="en-US" sz="2600"/>
              <a:t>Single-patient tools: </a:t>
            </a:r>
            <a:endParaRPr b="1" sz="2600"/>
          </a:p>
          <a:p>
            <a:pPr indent="0" lvl="0" marL="460375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2200">
                <a:solidFill>
                  <a:srgbClr val="0000FF"/>
                </a:solidFill>
              </a:rPr>
              <a:t>Local behaviors of visualizing a patient record</a:t>
            </a:r>
            <a:endParaRPr sz="2000"/>
          </a:p>
        </p:txBody>
      </p:sp>
      <p:sp>
        <p:nvSpPr>
          <p:cNvPr id="148" name="Google Shape;148;g3018152c2a7_0_127"/>
          <p:cNvSpPr/>
          <p:nvPr/>
        </p:nvSpPr>
        <p:spPr>
          <a:xfrm>
            <a:off x="3507550" y="2802400"/>
            <a:ext cx="2396700" cy="24408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meant for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individual diagnostic hypotheses or patients’ clinical analyses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g3018152c2a7_0_1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599" y="2632375"/>
            <a:ext cx="2743199" cy="278086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g3018152c2a7_0_127"/>
          <p:cNvSpPr/>
          <p:nvPr/>
        </p:nvSpPr>
        <p:spPr>
          <a:xfrm>
            <a:off x="6445100" y="3404424"/>
            <a:ext cx="3227100" cy="3651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 Scalability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g3018152c2a7_0_127"/>
          <p:cNvSpPr/>
          <p:nvPr/>
        </p:nvSpPr>
        <p:spPr>
          <a:xfrm>
            <a:off x="6445100" y="3924674"/>
            <a:ext cx="3227100" cy="3651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Interaction steps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3018152c2a7_0_127"/>
          <p:cNvSpPr/>
          <p:nvPr/>
        </p:nvSpPr>
        <p:spPr>
          <a:xfrm>
            <a:off x="6445100" y="4489774"/>
            <a:ext cx="3227100" cy="3651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Evaluation with specialist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g3018152c2a7_0_1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44142" y="3039924"/>
            <a:ext cx="1262070" cy="1965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018152c2a7_0_143"/>
          <p:cNvSpPr txBox="1"/>
          <p:nvPr>
            <p:ph idx="12" type="sldNum"/>
          </p:nvPr>
        </p:nvSpPr>
        <p:spPr>
          <a:xfrm>
            <a:off x="9251461" y="635634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0" name="Google Shape;160;g3018152c2a7_0_143"/>
          <p:cNvSpPr txBox="1"/>
          <p:nvPr>
            <p:ph type="title"/>
          </p:nvPr>
        </p:nvSpPr>
        <p:spPr>
          <a:xfrm>
            <a:off x="609600" y="342901"/>
            <a:ext cx="109728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3600"/>
              <a:buFont typeface="Calibri"/>
              <a:buNone/>
            </a:pPr>
            <a:r>
              <a:rPr lang="en-US"/>
              <a:t>Related Work - </a:t>
            </a:r>
            <a:r>
              <a:rPr lang="en-US">
                <a:solidFill>
                  <a:srgbClr val="C00000"/>
                </a:solidFill>
              </a:rPr>
              <a:t>EHR Systems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161" name="Google Shape;161;g3018152c2a7_0_1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" y="1438826"/>
            <a:ext cx="621030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g3018152c2a7_0_143"/>
          <p:cNvSpPr txBox="1"/>
          <p:nvPr>
            <p:ph idx="1" type="body"/>
          </p:nvPr>
        </p:nvSpPr>
        <p:spPr>
          <a:xfrm>
            <a:off x="7149100" y="1438825"/>
            <a:ext cx="4640700" cy="35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Comparison of EHR systems according to seven different aspects:</a:t>
            </a:r>
            <a:endParaRPr b="1" sz="2000"/>
          </a:p>
          <a:p>
            <a:pPr indent="-355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Selecting</a:t>
            </a:r>
            <a:endParaRPr sz="2000"/>
          </a:p>
          <a:p>
            <a:pPr indent="-355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Grouping</a:t>
            </a:r>
            <a:endParaRPr sz="2000"/>
          </a:p>
          <a:p>
            <a:pPr indent="-355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Filtering</a:t>
            </a:r>
            <a:endParaRPr sz="2000"/>
          </a:p>
          <a:p>
            <a:pPr indent="-355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Test result classification</a:t>
            </a:r>
            <a:endParaRPr sz="2000"/>
          </a:p>
          <a:p>
            <a:pPr indent="-355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Clinical history and outcome</a:t>
            </a:r>
            <a:endParaRPr sz="2000"/>
          </a:p>
          <a:p>
            <a:pPr indent="-355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User evaluation</a:t>
            </a:r>
            <a:endParaRPr sz="2000"/>
          </a:p>
          <a:p>
            <a:pPr indent="-355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Scalability of tests over time</a:t>
            </a:r>
            <a:endParaRPr sz="2000"/>
          </a:p>
        </p:txBody>
      </p:sp>
      <p:sp>
        <p:nvSpPr>
          <p:cNvPr id="163" name="Google Shape;163;g3018152c2a7_0_143"/>
          <p:cNvSpPr txBox="1"/>
          <p:nvPr/>
        </p:nvSpPr>
        <p:spPr>
          <a:xfrm>
            <a:off x="98700" y="5781875"/>
            <a:ext cx="11994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A. Rind, T. D. Wang, W. Aigner, S. Miksch, K. Wongsuphasawat, C. Plaisant, and B. Shneiderman. Interactive information visualization to explore and query electronic health records. Found. Trends Hum.-Comput. Interact., 5(3):207–298, Feb. 2013. doi: 10.1561/1100000039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N. Rostamzadeh, S. Abdullah, and K. Sedig. Data-driven activities involv ing electronic health records: An activity and task analysis framework for interactive visualization tools. Multimodal Technologies and Interaction, 4:7, 03 2020. doi: 10.3390/mti4010007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" name="Google Shape;164;g3018152c2a7_0_143"/>
          <p:cNvCxnSpPr/>
          <p:nvPr/>
        </p:nvCxnSpPr>
        <p:spPr>
          <a:xfrm>
            <a:off x="545825" y="4687575"/>
            <a:ext cx="61965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"/>
          <p:cNvSpPr txBox="1"/>
          <p:nvPr>
            <p:ph type="ctrTitle"/>
          </p:nvPr>
        </p:nvSpPr>
        <p:spPr>
          <a:xfrm>
            <a:off x="2432049" y="2739938"/>
            <a:ext cx="7327901" cy="10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100000"/>
              <a:buFont typeface="Calibri"/>
              <a:buNone/>
            </a:pPr>
            <a:r>
              <a:rPr lang="en-US"/>
              <a:t>03.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100000"/>
              <a:buFont typeface="Calibri"/>
              <a:buNone/>
            </a:pPr>
            <a:r>
              <a:rPr lang="en-US"/>
              <a:t>ClinicalPath</a:t>
            </a:r>
            <a:endParaRPr/>
          </a:p>
        </p:txBody>
      </p:sp>
      <p:sp>
        <p:nvSpPr>
          <p:cNvPr id="170" name="Google Shape;170;p10"/>
          <p:cNvSpPr txBox="1"/>
          <p:nvPr>
            <p:ph idx="12" type="sldNum"/>
          </p:nvPr>
        </p:nvSpPr>
        <p:spPr>
          <a:xfrm>
            <a:off x="9261231" y="6436382"/>
            <a:ext cx="2743200" cy="205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1" name="Google Shape;17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8800" y="3905762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"/>
          <p:cNvSpPr txBox="1"/>
          <p:nvPr>
            <p:ph idx="12" type="sldNum"/>
          </p:nvPr>
        </p:nvSpPr>
        <p:spPr>
          <a:xfrm>
            <a:off x="9251461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8" name="Google Shape;178;p14"/>
          <p:cNvSpPr txBox="1"/>
          <p:nvPr>
            <p:ph type="title"/>
          </p:nvPr>
        </p:nvSpPr>
        <p:spPr>
          <a:xfrm>
            <a:off x="609600" y="342901"/>
            <a:ext cx="10972800" cy="975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3600"/>
              <a:buFont typeface="Calibri"/>
              <a:buNone/>
            </a:pPr>
            <a:r>
              <a:rPr lang="en-US"/>
              <a:t>ClinicalPath - </a:t>
            </a:r>
            <a:r>
              <a:rPr lang="en-US">
                <a:solidFill>
                  <a:srgbClr val="C00000"/>
                </a:solidFill>
              </a:rPr>
              <a:t>Clinical Workflow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179" name="Google Shape;17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2450" y="1857584"/>
            <a:ext cx="10782298" cy="267903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4"/>
          <p:cNvSpPr txBox="1"/>
          <p:nvPr/>
        </p:nvSpPr>
        <p:spPr>
          <a:xfrm>
            <a:off x="857250" y="5225371"/>
            <a:ext cx="10348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General description of the clinical workflow of a physician in a regular medical consultation, and the importance of the ClinicalPath system to help the physician in the decision-making process.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4"/>
          <p:cNvSpPr txBox="1"/>
          <p:nvPr/>
        </p:nvSpPr>
        <p:spPr>
          <a:xfrm>
            <a:off x="1362074" y="2540699"/>
            <a:ext cx="2171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CC"/>
                </a:solidFill>
                <a:latin typeface="Calibri"/>
                <a:ea typeface="Calibri"/>
                <a:cs typeface="Calibri"/>
                <a:sym typeface="Calibri"/>
              </a:rPr>
              <a:t>Ex: collect key patient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4"/>
          <p:cNvSpPr txBox="1"/>
          <p:nvPr/>
        </p:nvSpPr>
        <p:spPr>
          <a:xfrm>
            <a:off x="4229099" y="4441747"/>
            <a:ext cx="4581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CC"/>
                </a:solidFill>
                <a:latin typeface="Calibri"/>
                <a:ea typeface="Calibri"/>
                <a:cs typeface="Calibri"/>
                <a:sym typeface="Calibri"/>
              </a:rPr>
              <a:t>Ex: Family history of diseases (e.g., genetic diseases), medications of continuous use, history of previous surgeries, history of hospitalizations, allergies, and others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3" name="Google Shape;183;p14"/>
          <p:cNvCxnSpPr/>
          <p:nvPr/>
        </p:nvCxnSpPr>
        <p:spPr>
          <a:xfrm rot="10800000">
            <a:off x="6286500" y="4096536"/>
            <a:ext cx="0" cy="282000"/>
          </a:xfrm>
          <a:prstGeom prst="straightConnector1">
            <a:avLst/>
          </a:prstGeom>
          <a:noFill/>
          <a:ln cap="flat" cmpd="sng" w="9525">
            <a:solidFill>
              <a:srgbClr val="3333CC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4" name="Google Shape;184;p14"/>
          <p:cNvSpPr txBox="1"/>
          <p:nvPr/>
        </p:nvSpPr>
        <p:spPr>
          <a:xfrm>
            <a:off x="8000999" y="728405"/>
            <a:ext cx="3886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Analyze the test results to indicate appropriate doses of medications or recommended procedures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5" name="Google Shape;185;p14"/>
          <p:cNvCxnSpPr/>
          <p:nvPr/>
        </p:nvCxnSpPr>
        <p:spPr>
          <a:xfrm>
            <a:off x="10410825" y="1640123"/>
            <a:ext cx="0" cy="2742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6" name="Google Shape;186;p14"/>
          <p:cNvCxnSpPr/>
          <p:nvPr/>
        </p:nvCxnSpPr>
        <p:spPr>
          <a:xfrm>
            <a:off x="2409825" y="2848475"/>
            <a:ext cx="0" cy="274200"/>
          </a:xfrm>
          <a:prstGeom prst="straightConnector1">
            <a:avLst/>
          </a:prstGeom>
          <a:noFill/>
          <a:ln cap="flat" cmpd="sng" w="9525">
            <a:solidFill>
              <a:srgbClr val="3333CC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187" name="Google Shape;18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28825" y="3864475"/>
            <a:ext cx="577275" cy="57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89725" y="1727925"/>
            <a:ext cx="577275" cy="57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4"/>
          <p:cNvSpPr/>
          <p:nvPr/>
        </p:nvSpPr>
        <p:spPr>
          <a:xfrm>
            <a:off x="2614800" y="6054288"/>
            <a:ext cx="6657600" cy="555600"/>
          </a:xfrm>
          <a:prstGeom prst="roundRect">
            <a:avLst>
              <a:gd fmla="val 16667" name="adj"/>
            </a:avLst>
          </a:prstGeom>
          <a:solidFill>
            <a:srgbClr val="D6EBF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Assist in choosing doses of medications or procedures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5"/>
          <p:cNvSpPr txBox="1"/>
          <p:nvPr>
            <p:ph idx="12" type="sldNum"/>
          </p:nvPr>
        </p:nvSpPr>
        <p:spPr>
          <a:xfrm>
            <a:off x="9251461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6" name="Google Shape;196;p15"/>
          <p:cNvSpPr txBox="1"/>
          <p:nvPr>
            <p:ph type="title"/>
          </p:nvPr>
        </p:nvSpPr>
        <p:spPr>
          <a:xfrm>
            <a:off x="609600" y="342901"/>
            <a:ext cx="109728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3600"/>
              <a:buFont typeface="Calibri"/>
              <a:buNone/>
            </a:pPr>
            <a:r>
              <a:rPr lang="en-US"/>
              <a:t>ClinicalPath - </a:t>
            </a:r>
            <a:r>
              <a:rPr lang="en-US">
                <a:solidFill>
                  <a:srgbClr val="C00000"/>
                </a:solidFill>
              </a:rPr>
              <a:t>Dataset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197" name="Google Shape;197;p15"/>
          <p:cNvSpPr txBox="1"/>
          <p:nvPr>
            <p:ph idx="1" type="body"/>
          </p:nvPr>
        </p:nvSpPr>
        <p:spPr>
          <a:xfrm>
            <a:off x="609600" y="1375508"/>
            <a:ext cx="10972800" cy="4923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60375" lvl="0" marL="460375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/>
              <a:t>FAPESP COVID-19 Data Sharing/BR Repository [1]</a:t>
            </a:r>
            <a:endParaRPr/>
          </a:p>
        </p:txBody>
      </p:sp>
      <p:sp>
        <p:nvSpPr>
          <p:cNvPr id="198" name="Google Shape;198;p15"/>
          <p:cNvSpPr txBox="1"/>
          <p:nvPr/>
        </p:nvSpPr>
        <p:spPr>
          <a:xfrm>
            <a:off x="2103900" y="4964125"/>
            <a:ext cx="79842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HF1: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Albert Einstein Hospital,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HF2: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Fleury laboratories,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HF3: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Sírio-Libanês Hospital,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HF4: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Beneficência Portuguesa/SP Hospital,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HF5: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Hospital das Clinicas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5"/>
          <p:cNvSpPr txBox="1"/>
          <p:nvPr/>
        </p:nvSpPr>
        <p:spPr>
          <a:xfrm>
            <a:off x="197389" y="6441728"/>
            <a:ext cx="11797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FAPESP. FAPESP COVID-19 Data Sharing/BR, 2021.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Google Shape;2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1525" y="2331925"/>
            <a:ext cx="7648950" cy="263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1b0fc4f7a42_0_0"/>
          <p:cNvSpPr txBox="1"/>
          <p:nvPr>
            <p:ph idx="12" type="sldNum"/>
          </p:nvPr>
        </p:nvSpPr>
        <p:spPr>
          <a:xfrm>
            <a:off x="9251461" y="635634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7" name="Google Shape;207;g1b0fc4f7a42_0_0"/>
          <p:cNvSpPr txBox="1"/>
          <p:nvPr>
            <p:ph type="title"/>
          </p:nvPr>
        </p:nvSpPr>
        <p:spPr>
          <a:xfrm>
            <a:off x="609600" y="342901"/>
            <a:ext cx="109728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ClinicalPath - </a:t>
            </a:r>
            <a:r>
              <a:rPr lang="en-US">
                <a:solidFill>
                  <a:srgbClr val="C00000"/>
                </a:solidFill>
              </a:rPr>
              <a:t>Overview</a:t>
            </a:r>
            <a:endParaRPr/>
          </a:p>
        </p:txBody>
      </p:sp>
      <p:pic>
        <p:nvPicPr>
          <p:cNvPr id="208" name="Google Shape;208;g1b0fc4f7a42_0_0"/>
          <p:cNvPicPr preferRelativeResize="0"/>
          <p:nvPr/>
        </p:nvPicPr>
        <p:blipFill rotWithShape="1">
          <a:blip r:embed="rId3">
            <a:alphaModFix/>
          </a:blip>
          <a:srcRect b="1511" l="0" r="0" t="1597"/>
          <a:stretch/>
        </p:blipFill>
        <p:spPr>
          <a:xfrm>
            <a:off x="1045866" y="1217000"/>
            <a:ext cx="10100267" cy="5504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"/>
          <p:cNvSpPr txBox="1"/>
          <p:nvPr>
            <p:ph idx="12" type="sldNum"/>
          </p:nvPr>
        </p:nvSpPr>
        <p:spPr>
          <a:xfrm>
            <a:off x="9251461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5" name="Google Shape;215;p19"/>
          <p:cNvSpPr txBox="1"/>
          <p:nvPr>
            <p:ph type="title"/>
          </p:nvPr>
        </p:nvSpPr>
        <p:spPr>
          <a:xfrm>
            <a:off x="609600" y="342900"/>
            <a:ext cx="73191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3600"/>
              <a:buFont typeface="Calibri"/>
              <a:buNone/>
            </a:pPr>
            <a:r>
              <a:rPr lang="en-US"/>
              <a:t>ClinicalPath - </a:t>
            </a:r>
            <a:r>
              <a:rPr lang="en-US">
                <a:solidFill>
                  <a:srgbClr val="C00000"/>
                </a:solidFill>
              </a:rPr>
              <a:t>Visual Design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216" name="Google Shape;21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454455"/>
            <a:ext cx="7861110" cy="4765798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9"/>
          <p:cNvSpPr txBox="1"/>
          <p:nvPr/>
        </p:nvSpPr>
        <p:spPr>
          <a:xfrm>
            <a:off x="885540" y="6289674"/>
            <a:ext cx="758517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of the Clinical path visualization divided into the main features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 txBox="1"/>
          <p:nvPr/>
        </p:nvSpPr>
        <p:spPr>
          <a:xfrm>
            <a:off x="8591265" y="1454455"/>
            <a:ext cx="3330900" cy="50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lphaUcParenBoth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Categorization of the tests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lphaUcParenBoth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Timestamp information with color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—note that the dates follow the Brazilian date format (dd/MM/yyyy)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lphaUcParenBoth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Color and shape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(symbols) for the test results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lphaUcParenBoth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 chart with the test result variation over time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lphaUcParenBoth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 chart combining different test results over 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lphaUcParenBoth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Automatic highlighting relevant changes in tests results over time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lphaUcParenBoth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Patient global and local information over 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lphaUcParenBoth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 chart showing patient information over time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9dbecf8930_1_0"/>
          <p:cNvSpPr txBox="1"/>
          <p:nvPr>
            <p:ph idx="12" type="sldNum"/>
          </p:nvPr>
        </p:nvSpPr>
        <p:spPr>
          <a:xfrm>
            <a:off x="9251461" y="635634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5" name="Google Shape;225;g19dbecf8930_1_0"/>
          <p:cNvSpPr txBox="1"/>
          <p:nvPr>
            <p:ph type="title"/>
          </p:nvPr>
        </p:nvSpPr>
        <p:spPr>
          <a:xfrm>
            <a:off x="609600" y="342901"/>
            <a:ext cx="109728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3600"/>
              <a:buFont typeface="Calibri"/>
              <a:buNone/>
            </a:pPr>
            <a:r>
              <a:rPr lang="en-US"/>
              <a:t>ClinicalPath - </a:t>
            </a:r>
            <a:r>
              <a:rPr lang="en-US">
                <a:solidFill>
                  <a:srgbClr val="C00000"/>
                </a:solidFill>
              </a:rPr>
              <a:t>Visual Design (A)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226" name="Google Shape;226;g19dbecf8930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454455"/>
            <a:ext cx="7861112" cy="476579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g19dbecf8930_1_0"/>
          <p:cNvSpPr txBox="1"/>
          <p:nvPr/>
        </p:nvSpPr>
        <p:spPr>
          <a:xfrm>
            <a:off x="885540" y="6289674"/>
            <a:ext cx="75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of the Clinical path visualization divided into the main features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g19dbecf8930_1_0"/>
          <p:cNvSpPr txBox="1"/>
          <p:nvPr/>
        </p:nvSpPr>
        <p:spPr>
          <a:xfrm>
            <a:off x="8591265" y="1454455"/>
            <a:ext cx="3330900" cy="50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lphaUcParenBoth"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Categorization of the tests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AutoNum type="alphaUcParenBoth"/>
            </a:pP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Timestamp information </a:t>
            </a: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with color </a:t>
            </a: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—note that the dates follow the Brazilian date format (dd/MM/yyyy)</a:t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AutoNum type="alphaUcParenBoth"/>
            </a:pP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Color and shape </a:t>
            </a:r>
            <a:r>
              <a:rPr b="1"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(symbols) for the test results</a:t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AutoNum type="alphaUcParenBoth"/>
            </a:pP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Line chart with the </a:t>
            </a: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test result </a:t>
            </a: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variation over time</a:t>
            </a:r>
            <a:endParaRPr b="0" i="0" sz="16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AutoNum type="alphaUcParenBoth"/>
            </a:pP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Line chart </a:t>
            </a: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combining different test results </a:t>
            </a: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over time</a:t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AutoNum type="alphaUcParenBoth"/>
            </a:pP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Automatic </a:t>
            </a: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highlighting relevant changes in tests results </a:t>
            </a: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over time</a:t>
            </a:r>
            <a:endParaRPr b="0" i="0" sz="16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AutoNum type="alphaUcParenBoth"/>
            </a:pP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Patient global and local information</a:t>
            </a: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over time</a:t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AutoNum type="alphaUcParenBoth"/>
            </a:pP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Line chart showing </a:t>
            </a: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patient information</a:t>
            </a: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over time</a:t>
            </a:r>
            <a:endParaRPr b="0" i="0" sz="16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g19dbecf8930_1_0"/>
          <p:cNvSpPr/>
          <p:nvPr/>
        </p:nvSpPr>
        <p:spPr>
          <a:xfrm>
            <a:off x="609600" y="2860325"/>
            <a:ext cx="2898000" cy="26808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128588" rotWithShape="0" algn="bl" dir="5400000" dist="7620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19dbecf8930_0_0"/>
          <p:cNvSpPr txBox="1"/>
          <p:nvPr>
            <p:ph idx="12" type="sldNum"/>
          </p:nvPr>
        </p:nvSpPr>
        <p:spPr>
          <a:xfrm>
            <a:off x="9251461" y="635634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6" name="Google Shape;236;g19dbecf8930_0_0"/>
          <p:cNvSpPr txBox="1"/>
          <p:nvPr>
            <p:ph type="title"/>
          </p:nvPr>
        </p:nvSpPr>
        <p:spPr>
          <a:xfrm>
            <a:off x="609600" y="342900"/>
            <a:ext cx="78612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3600"/>
              <a:buFont typeface="Calibri"/>
              <a:buNone/>
            </a:pPr>
            <a:r>
              <a:rPr lang="en-US"/>
              <a:t>ClinicalPath - </a:t>
            </a:r>
            <a:r>
              <a:rPr lang="en-US">
                <a:solidFill>
                  <a:srgbClr val="C00000"/>
                </a:solidFill>
              </a:rPr>
              <a:t>Visual Design (B)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237" name="Google Shape;237;g19dbecf8930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454455"/>
            <a:ext cx="7861112" cy="4765799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g19dbecf8930_0_0"/>
          <p:cNvSpPr txBox="1"/>
          <p:nvPr/>
        </p:nvSpPr>
        <p:spPr>
          <a:xfrm>
            <a:off x="885540" y="6289674"/>
            <a:ext cx="75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of the Clinical path visualization divided into the main features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g19dbecf8930_0_0"/>
          <p:cNvSpPr txBox="1"/>
          <p:nvPr/>
        </p:nvSpPr>
        <p:spPr>
          <a:xfrm>
            <a:off x="8591265" y="1454455"/>
            <a:ext cx="3330900" cy="50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AutoNum type="alphaUcParenBoth"/>
            </a:pP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Categorization of the tests</a:t>
            </a:r>
            <a:endParaRPr b="1" i="0" sz="16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lphaUcParenBoth"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Timestamp information 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color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—note that the dates follow the Brazilian date format (dd/MM/yyyy)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AutoNum type="alphaUcParenBoth"/>
            </a:pP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Color and shape </a:t>
            </a:r>
            <a:r>
              <a:rPr b="1"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(symbols) for the test results</a:t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AutoNum type="alphaUcParenBoth"/>
            </a:pP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Line chart with the </a:t>
            </a: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test result </a:t>
            </a: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variation over time</a:t>
            </a:r>
            <a:endParaRPr b="0" i="0" sz="16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AutoNum type="alphaUcParenBoth"/>
            </a:pP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Line chart </a:t>
            </a: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combining different test results </a:t>
            </a: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over time</a:t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AutoNum type="alphaUcParenBoth"/>
            </a:pP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Automatic </a:t>
            </a: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highlighting relevant changes in tests results </a:t>
            </a: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over time</a:t>
            </a:r>
            <a:endParaRPr b="0" i="0" sz="16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AutoNum type="alphaUcParenBoth"/>
            </a:pP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Patient global and local information</a:t>
            </a: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over time</a:t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AutoNum type="alphaUcParenBoth"/>
            </a:pP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Line chart showing </a:t>
            </a: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patient information</a:t>
            </a: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over time</a:t>
            </a:r>
            <a:endParaRPr b="0" i="0" sz="16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g19dbecf8930_0_0"/>
          <p:cNvSpPr/>
          <p:nvPr/>
        </p:nvSpPr>
        <p:spPr>
          <a:xfrm>
            <a:off x="1206650" y="1690150"/>
            <a:ext cx="4480200" cy="827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185738" rotWithShape="0" algn="bl" dir="12060000" dist="114300">
              <a:srgbClr val="000000">
                <a:alpha val="2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19dbecf8930_1_12"/>
          <p:cNvSpPr txBox="1"/>
          <p:nvPr>
            <p:ph idx="12" type="sldNum"/>
          </p:nvPr>
        </p:nvSpPr>
        <p:spPr>
          <a:xfrm>
            <a:off x="9251461" y="635634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7" name="Google Shape;247;g19dbecf8930_1_12"/>
          <p:cNvSpPr txBox="1"/>
          <p:nvPr>
            <p:ph type="title"/>
          </p:nvPr>
        </p:nvSpPr>
        <p:spPr>
          <a:xfrm>
            <a:off x="609600" y="342901"/>
            <a:ext cx="109728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3600"/>
              <a:buFont typeface="Calibri"/>
              <a:buNone/>
            </a:pPr>
            <a:r>
              <a:rPr lang="en-US"/>
              <a:t>ClinicalPath - </a:t>
            </a:r>
            <a:r>
              <a:rPr lang="en-US">
                <a:solidFill>
                  <a:srgbClr val="C00000"/>
                </a:solidFill>
              </a:rPr>
              <a:t>Visual Design (C)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248" name="Google Shape;248;g19dbecf8930_1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454455"/>
            <a:ext cx="7861112" cy="476579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g19dbecf8930_1_12"/>
          <p:cNvSpPr txBox="1"/>
          <p:nvPr/>
        </p:nvSpPr>
        <p:spPr>
          <a:xfrm>
            <a:off x="885540" y="6289674"/>
            <a:ext cx="75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of the Clinical path visualization divided into the main features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19dbecf8930_1_12"/>
          <p:cNvSpPr txBox="1"/>
          <p:nvPr/>
        </p:nvSpPr>
        <p:spPr>
          <a:xfrm>
            <a:off x="8591265" y="1454455"/>
            <a:ext cx="3330900" cy="50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AutoNum type="alphaUcParenBoth"/>
            </a:pP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Categorization of the tests</a:t>
            </a:r>
            <a:endParaRPr b="1" i="0" sz="16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AutoNum type="alphaUcParenBoth"/>
            </a:pP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Timestamp information </a:t>
            </a: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with color </a:t>
            </a: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—note that the dates follow the Brazilian date format (dd/MM/yyyy)</a:t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lphaUcParenBoth"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Color and shape </a:t>
            </a: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(symbols) for the test results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AutoNum type="alphaUcParenBoth"/>
            </a:pP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Line chart with the </a:t>
            </a: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test result </a:t>
            </a: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variation over time</a:t>
            </a:r>
            <a:endParaRPr b="0" i="0" sz="16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AutoNum type="alphaUcParenBoth"/>
            </a:pP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Line chart </a:t>
            </a: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combining different test results </a:t>
            </a: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over time</a:t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AutoNum type="alphaUcParenBoth"/>
            </a:pP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Automatic </a:t>
            </a: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highlighting relevant changes in tests results </a:t>
            </a: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over time</a:t>
            </a:r>
            <a:endParaRPr b="0" i="0" sz="16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AutoNum type="alphaUcParenBoth"/>
            </a:pP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Patient global and local information</a:t>
            </a: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over time</a:t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AutoNum type="alphaUcParenBoth"/>
            </a:pP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Line chart showing </a:t>
            </a: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patient information</a:t>
            </a: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over time</a:t>
            </a:r>
            <a:endParaRPr b="0" i="0" sz="16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19dbecf8930_1_12"/>
          <p:cNvSpPr/>
          <p:nvPr/>
        </p:nvSpPr>
        <p:spPr>
          <a:xfrm>
            <a:off x="2022100" y="4289950"/>
            <a:ext cx="1497900" cy="827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271463" rotWithShape="0" algn="bl" dir="5400000" dist="7620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9dbecf8930_1_22"/>
          <p:cNvSpPr txBox="1"/>
          <p:nvPr>
            <p:ph idx="12" type="sldNum"/>
          </p:nvPr>
        </p:nvSpPr>
        <p:spPr>
          <a:xfrm>
            <a:off x="9251461" y="635634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8" name="Google Shape;258;g19dbecf8930_1_22"/>
          <p:cNvSpPr txBox="1"/>
          <p:nvPr>
            <p:ph type="title"/>
          </p:nvPr>
        </p:nvSpPr>
        <p:spPr>
          <a:xfrm>
            <a:off x="609600" y="342901"/>
            <a:ext cx="109728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3600"/>
              <a:buFont typeface="Calibri"/>
              <a:buNone/>
            </a:pPr>
            <a:r>
              <a:rPr lang="en-US"/>
              <a:t>ClinicalPath - </a:t>
            </a:r>
            <a:r>
              <a:rPr lang="en-US">
                <a:solidFill>
                  <a:srgbClr val="C00000"/>
                </a:solidFill>
              </a:rPr>
              <a:t>Visual Design (D)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259" name="Google Shape;259;g19dbecf8930_1_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454455"/>
            <a:ext cx="7861112" cy="4765799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g19dbecf8930_1_22"/>
          <p:cNvSpPr txBox="1"/>
          <p:nvPr/>
        </p:nvSpPr>
        <p:spPr>
          <a:xfrm>
            <a:off x="885540" y="6289674"/>
            <a:ext cx="75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of the Clinical path visualization divided into the main features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19dbecf8930_1_22"/>
          <p:cNvSpPr txBox="1"/>
          <p:nvPr/>
        </p:nvSpPr>
        <p:spPr>
          <a:xfrm>
            <a:off x="8591265" y="1454455"/>
            <a:ext cx="3330900" cy="50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AutoNum type="alphaUcParenBoth"/>
            </a:pP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Categorization of the tests</a:t>
            </a:r>
            <a:endParaRPr b="1" i="0" sz="16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AutoNum type="alphaUcParenBoth"/>
            </a:pP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Timestamp information </a:t>
            </a: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with color </a:t>
            </a: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—note that the dates follow the Brazilian date format (dd/MM/yyyy)</a:t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AutoNum type="alphaUcParenBoth"/>
            </a:pP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Color and shape </a:t>
            </a:r>
            <a:r>
              <a:rPr b="1"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(symbols) for the test results</a:t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lphaUcParenBoth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 chart with the </a:t>
            </a: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 result 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variation over time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AutoNum type="alphaUcParenBoth"/>
            </a:pP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Line chart </a:t>
            </a: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combining different test results </a:t>
            </a: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over time</a:t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AutoNum type="alphaUcParenBoth"/>
            </a:pP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Automatic </a:t>
            </a: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highlighting relevant changes in tests results </a:t>
            </a: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over time</a:t>
            </a:r>
            <a:endParaRPr b="0" i="0" sz="16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AutoNum type="alphaUcParenBoth"/>
            </a:pP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Patient global and local information</a:t>
            </a: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over time</a:t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AutoNum type="alphaUcParenBoth"/>
            </a:pP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Line chart showing </a:t>
            </a: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patient information</a:t>
            </a: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over time</a:t>
            </a:r>
            <a:endParaRPr b="0" i="0" sz="16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g19dbecf8930_1_22"/>
          <p:cNvSpPr/>
          <p:nvPr/>
        </p:nvSpPr>
        <p:spPr>
          <a:xfrm>
            <a:off x="6226775" y="4407650"/>
            <a:ext cx="2244000" cy="14127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271463" rotWithShape="0" algn="bl" dir="5400000" dist="7620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9dbecf8930_1_32"/>
          <p:cNvSpPr txBox="1"/>
          <p:nvPr>
            <p:ph idx="12" type="sldNum"/>
          </p:nvPr>
        </p:nvSpPr>
        <p:spPr>
          <a:xfrm>
            <a:off x="9251461" y="635634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9" name="Google Shape;269;g19dbecf8930_1_32"/>
          <p:cNvSpPr txBox="1"/>
          <p:nvPr>
            <p:ph type="title"/>
          </p:nvPr>
        </p:nvSpPr>
        <p:spPr>
          <a:xfrm>
            <a:off x="609600" y="342901"/>
            <a:ext cx="109728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3600"/>
              <a:buFont typeface="Calibri"/>
              <a:buNone/>
            </a:pPr>
            <a:r>
              <a:rPr lang="en-US"/>
              <a:t>ClinicalPath - </a:t>
            </a:r>
            <a:r>
              <a:rPr lang="en-US">
                <a:solidFill>
                  <a:srgbClr val="C00000"/>
                </a:solidFill>
              </a:rPr>
              <a:t>Visual Design (E)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270" name="Google Shape;270;g19dbecf8930_1_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454455"/>
            <a:ext cx="7861112" cy="4765799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g19dbecf8930_1_32"/>
          <p:cNvSpPr txBox="1"/>
          <p:nvPr/>
        </p:nvSpPr>
        <p:spPr>
          <a:xfrm>
            <a:off x="885540" y="6289674"/>
            <a:ext cx="75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of the Clinical path visualization divided into the main features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g19dbecf8930_1_32"/>
          <p:cNvSpPr txBox="1"/>
          <p:nvPr/>
        </p:nvSpPr>
        <p:spPr>
          <a:xfrm>
            <a:off x="8591265" y="1454455"/>
            <a:ext cx="3330900" cy="50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AutoNum type="alphaUcParenBoth"/>
            </a:pP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Categorization of the tests</a:t>
            </a:r>
            <a:endParaRPr b="1" i="0" sz="16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AutoNum type="alphaUcParenBoth"/>
            </a:pP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Timestamp information </a:t>
            </a: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with color </a:t>
            </a: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—note that the dates follow the Brazilian date format (dd/MM/yyyy)</a:t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AutoNum type="alphaUcParenBoth"/>
            </a:pP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Color and shape </a:t>
            </a:r>
            <a:r>
              <a:rPr b="1"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(symbols) for the test results</a:t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AutoNum type="alphaUcParenBoth"/>
            </a:pP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Line chart with the </a:t>
            </a: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test result </a:t>
            </a: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variation over time</a:t>
            </a:r>
            <a:endParaRPr b="0" i="0" sz="16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lphaUcParenBoth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 chart </a:t>
            </a: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combining different test results 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 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AutoNum type="alphaUcParenBoth"/>
            </a:pP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Automatic </a:t>
            </a: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highlighting relevant changes in tests results </a:t>
            </a: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over time</a:t>
            </a:r>
            <a:endParaRPr b="0" i="0" sz="16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AutoNum type="alphaUcParenBoth"/>
            </a:pP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Patient global and local information</a:t>
            </a: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over time</a:t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AutoNum type="alphaUcParenBoth"/>
            </a:pP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Line chart showing </a:t>
            </a: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patient information</a:t>
            </a: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over time</a:t>
            </a:r>
            <a:endParaRPr b="0" i="0" sz="16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g19dbecf8930_1_32"/>
          <p:cNvSpPr/>
          <p:nvPr/>
        </p:nvSpPr>
        <p:spPr>
          <a:xfrm>
            <a:off x="6238100" y="2899625"/>
            <a:ext cx="2232600" cy="1497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185738" rotWithShape="0" algn="bl" dir="5400000" dist="85725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9dbecf8930_0_20"/>
          <p:cNvSpPr txBox="1"/>
          <p:nvPr>
            <p:ph idx="12" type="sldNum"/>
          </p:nvPr>
        </p:nvSpPr>
        <p:spPr>
          <a:xfrm>
            <a:off x="9251461" y="635634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0" name="Google Shape;280;g19dbecf8930_0_20"/>
          <p:cNvSpPr txBox="1"/>
          <p:nvPr>
            <p:ph type="title"/>
          </p:nvPr>
        </p:nvSpPr>
        <p:spPr>
          <a:xfrm>
            <a:off x="609600" y="342901"/>
            <a:ext cx="109728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3600"/>
              <a:buFont typeface="Calibri"/>
              <a:buNone/>
            </a:pPr>
            <a:r>
              <a:rPr lang="en-US"/>
              <a:t>ClinicalPath - </a:t>
            </a:r>
            <a:r>
              <a:rPr lang="en-US">
                <a:solidFill>
                  <a:srgbClr val="C00000"/>
                </a:solidFill>
              </a:rPr>
              <a:t>Visual Design (F)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281" name="Google Shape;281;g19dbecf8930_0_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454455"/>
            <a:ext cx="7861112" cy="4765799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g19dbecf8930_0_20"/>
          <p:cNvSpPr txBox="1"/>
          <p:nvPr/>
        </p:nvSpPr>
        <p:spPr>
          <a:xfrm>
            <a:off x="885540" y="6289674"/>
            <a:ext cx="75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of the Clinical path visualization divided into the main features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19dbecf8930_0_20"/>
          <p:cNvSpPr txBox="1"/>
          <p:nvPr/>
        </p:nvSpPr>
        <p:spPr>
          <a:xfrm>
            <a:off x="8591265" y="1454455"/>
            <a:ext cx="3330900" cy="50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AutoNum type="alphaUcParenBoth"/>
            </a:pP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Categorization of the tests</a:t>
            </a:r>
            <a:endParaRPr b="1" i="0" sz="16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AutoNum type="alphaUcParenBoth"/>
            </a:pP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Timestamp information </a:t>
            </a: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with color </a:t>
            </a: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—note that the dates follow the Brazilian date format (dd/MM/yyyy)</a:t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AutoNum type="alphaUcParenBoth"/>
            </a:pP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Color and shape </a:t>
            </a:r>
            <a:r>
              <a:rPr b="1"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(symbols) for the test results</a:t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AutoNum type="alphaUcParenBoth"/>
            </a:pP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Line chart with the </a:t>
            </a: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test result </a:t>
            </a: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variation over time</a:t>
            </a:r>
            <a:endParaRPr b="0" i="0" sz="16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AutoNum type="alphaUcParenBoth"/>
            </a:pP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Line chart </a:t>
            </a: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combining different test results </a:t>
            </a: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over time</a:t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lphaUcParenBoth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Automatic </a:t>
            </a: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highlighting relevant changes in tests results 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 time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AutoNum type="alphaUcParenBoth"/>
            </a:pP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Patient global and local information</a:t>
            </a: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over time</a:t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AutoNum type="alphaUcParenBoth"/>
            </a:pP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Line chart showing </a:t>
            </a: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patient information</a:t>
            </a: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over time</a:t>
            </a:r>
            <a:endParaRPr b="0" i="0" sz="16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19dbecf8930_0_20"/>
          <p:cNvSpPr/>
          <p:nvPr/>
        </p:nvSpPr>
        <p:spPr>
          <a:xfrm>
            <a:off x="4597425" y="4406675"/>
            <a:ext cx="458100" cy="11160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142875" rotWithShape="0" algn="bl" dir="5400000" dist="66675">
              <a:srgbClr val="000000">
                <a:alpha val="5764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19dbecf8930_0_30"/>
          <p:cNvSpPr txBox="1"/>
          <p:nvPr>
            <p:ph idx="12" type="sldNum"/>
          </p:nvPr>
        </p:nvSpPr>
        <p:spPr>
          <a:xfrm>
            <a:off x="9251461" y="635634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1" name="Google Shape;291;g19dbecf8930_0_30"/>
          <p:cNvSpPr txBox="1"/>
          <p:nvPr>
            <p:ph type="title"/>
          </p:nvPr>
        </p:nvSpPr>
        <p:spPr>
          <a:xfrm>
            <a:off x="609600" y="342901"/>
            <a:ext cx="109728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3600"/>
              <a:buFont typeface="Calibri"/>
              <a:buNone/>
            </a:pPr>
            <a:r>
              <a:rPr lang="en-US"/>
              <a:t>ClinicalPath - </a:t>
            </a:r>
            <a:r>
              <a:rPr lang="en-US">
                <a:solidFill>
                  <a:srgbClr val="C00000"/>
                </a:solidFill>
              </a:rPr>
              <a:t>Visual Design (G)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292" name="Google Shape;292;g19dbecf8930_0_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454455"/>
            <a:ext cx="7861112" cy="4765799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g19dbecf8930_0_30"/>
          <p:cNvSpPr txBox="1"/>
          <p:nvPr/>
        </p:nvSpPr>
        <p:spPr>
          <a:xfrm>
            <a:off x="885540" y="6289674"/>
            <a:ext cx="75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of the Clinical path visualization divided into the main features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g19dbecf8930_0_30"/>
          <p:cNvSpPr txBox="1"/>
          <p:nvPr/>
        </p:nvSpPr>
        <p:spPr>
          <a:xfrm>
            <a:off x="8591265" y="1454455"/>
            <a:ext cx="3330900" cy="50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AutoNum type="alphaUcParenBoth"/>
            </a:pP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Categorization of the tests</a:t>
            </a:r>
            <a:endParaRPr b="1" i="0" sz="16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AutoNum type="alphaUcParenBoth"/>
            </a:pP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Timestamp information </a:t>
            </a: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with color </a:t>
            </a: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—note that the dates follow the Brazilian date format (dd/MM/yyyy)</a:t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AutoNum type="alphaUcParenBoth"/>
            </a:pP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Color and shape </a:t>
            </a:r>
            <a:r>
              <a:rPr b="1"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(symbols) for the test results</a:t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AutoNum type="alphaUcParenBoth"/>
            </a:pP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Line chart with the </a:t>
            </a: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test result </a:t>
            </a: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variation over time</a:t>
            </a:r>
            <a:endParaRPr b="0" i="0" sz="16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AutoNum type="alphaUcParenBoth"/>
            </a:pP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Line chart </a:t>
            </a: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combining different test results </a:t>
            </a: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over time</a:t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AutoNum type="alphaUcParenBoth"/>
            </a:pP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Automatic </a:t>
            </a: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highlighting relevant changes in tests results </a:t>
            </a: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over time</a:t>
            </a:r>
            <a:endParaRPr b="0" i="0" sz="16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lphaUcParenBoth"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Patient global and local information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over 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AutoNum type="alphaUcParenBoth"/>
            </a:pP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Line chart showing </a:t>
            </a: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patient information</a:t>
            </a: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over time</a:t>
            </a:r>
            <a:endParaRPr b="0" i="0" sz="16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g19dbecf8930_0_30"/>
          <p:cNvSpPr/>
          <p:nvPr/>
        </p:nvSpPr>
        <p:spPr>
          <a:xfrm>
            <a:off x="609600" y="2534375"/>
            <a:ext cx="5571300" cy="365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385763" rotWithShape="0" algn="bl" dir="4680000" dist="571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19dbecf8930_0_10"/>
          <p:cNvSpPr txBox="1"/>
          <p:nvPr>
            <p:ph idx="12" type="sldNum"/>
          </p:nvPr>
        </p:nvSpPr>
        <p:spPr>
          <a:xfrm>
            <a:off x="9251461" y="635634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2" name="Google Shape;302;g19dbecf8930_0_10"/>
          <p:cNvSpPr txBox="1"/>
          <p:nvPr>
            <p:ph type="title"/>
          </p:nvPr>
        </p:nvSpPr>
        <p:spPr>
          <a:xfrm>
            <a:off x="609600" y="342901"/>
            <a:ext cx="109728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3600"/>
              <a:buFont typeface="Calibri"/>
              <a:buNone/>
            </a:pPr>
            <a:r>
              <a:rPr lang="en-US"/>
              <a:t>ClinicalPath - </a:t>
            </a:r>
            <a:r>
              <a:rPr lang="en-US">
                <a:solidFill>
                  <a:srgbClr val="C00000"/>
                </a:solidFill>
              </a:rPr>
              <a:t>Visual Design (H)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303" name="Google Shape;303;g19dbecf8930_0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454455"/>
            <a:ext cx="7861112" cy="4765799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g19dbecf8930_0_10"/>
          <p:cNvSpPr txBox="1"/>
          <p:nvPr/>
        </p:nvSpPr>
        <p:spPr>
          <a:xfrm>
            <a:off x="885540" y="6289674"/>
            <a:ext cx="75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of the Clinical path visualization divided into the main features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g19dbecf8930_0_10"/>
          <p:cNvSpPr txBox="1"/>
          <p:nvPr/>
        </p:nvSpPr>
        <p:spPr>
          <a:xfrm>
            <a:off x="8591265" y="1454455"/>
            <a:ext cx="3330900" cy="50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AutoNum type="alphaUcParenBoth"/>
            </a:pP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Categorization of the tests</a:t>
            </a:r>
            <a:endParaRPr b="1" i="0" sz="16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AutoNum type="alphaUcParenBoth"/>
            </a:pP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Timestamp information </a:t>
            </a: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with color </a:t>
            </a: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—note that the dates follow the Brazilian date format (dd/MM/yyyy)</a:t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AutoNum type="alphaUcParenBoth"/>
            </a:pP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Color and shape </a:t>
            </a:r>
            <a:r>
              <a:rPr b="1"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(symbols) for the test results</a:t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AutoNum type="alphaUcParenBoth"/>
            </a:pP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Line chart with the </a:t>
            </a: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test result </a:t>
            </a: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variation over time</a:t>
            </a:r>
            <a:endParaRPr b="0" i="0" sz="16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AutoNum type="alphaUcParenBoth"/>
            </a:pP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Line chart </a:t>
            </a: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combining different test results </a:t>
            </a: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over time</a:t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AutoNum type="alphaUcParenBoth"/>
            </a:pP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Automatic </a:t>
            </a: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highlighting relevant changes in tests results </a:t>
            </a: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over time</a:t>
            </a:r>
            <a:endParaRPr b="0" i="0" sz="16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AutoNum type="alphaUcParenBoth"/>
            </a:pP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Patient global and local information</a:t>
            </a: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over time</a:t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lphaUcParenBoth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 chart showing </a:t>
            </a: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patient information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over time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g19dbecf8930_0_10"/>
          <p:cNvSpPr/>
          <p:nvPr/>
        </p:nvSpPr>
        <p:spPr>
          <a:xfrm>
            <a:off x="6238025" y="1454450"/>
            <a:ext cx="2232600" cy="1445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285750" rotWithShape="0" algn="bl" dir="5400000" dist="571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0"/>
          <p:cNvSpPr txBox="1"/>
          <p:nvPr>
            <p:ph idx="12" type="sldNum"/>
          </p:nvPr>
        </p:nvSpPr>
        <p:spPr>
          <a:xfrm>
            <a:off x="9251461" y="635634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3" name="Google Shape;313;p20"/>
          <p:cNvSpPr txBox="1"/>
          <p:nvPr>
            <p:ph type="title"/>
          </p:nvPr>
        </p:nvSpPr>
        <p:spPr>
          <a:xfrm>
            <a:off x="609600" y="342900"/>
            <a:ext cx="76716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3600"/>
              <a:buFont typeface="Calibri"/>
              <a:buNone/>
            </a:pPr>
            <a:r>
              <a:rPr lang="en-US"/>
              <a:t>ClinicalPath - </a:t>
            </a:r>
            <a:r>
              <a:rPr lang="en-US">
                <a:solidFill>
                  <a:srgbClr val="C00000"/>
                </a:solidFill>
              </a:rPr>
              <a:t>User Interaction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314" name="Google Shape;31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06375" y="1415525"/>
            <a:ext cx="5179250" cy="3891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06376" y="5315111"/>
            <a:ext cx="5179250" cy="346726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0"/>
          <p:cNvSpPr txBox="1"/>
          <p:nvPr/>
        </p:nvSpPr>
        <p:spPr>
          <a:xfrm>
            <a:off x="4724398" y="5752950"/>
            <a:ext cx="274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(a) Zoom and pan features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1"/>
          <p:cNvSpPr txBox="1"/>
          <p:nvPr>
            <p:ph idx="12" type="sldNum"/>
          </p:nvPr>
        </p:nvSpPr>
        <p:spPr>
          <a:xfrm>
            <a:off x="9251461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3" name="Google Shape;323;p21"/>
          <p:cNvSpPr txBox="1"/>
          <p:nvPr>
            <p:ph type="title"/>
          </p:nvPr>
        </p:nvSpPr>
        <p:spPr>
          <a:xfrm>
            <a:off x="609600" y="342901"/>
            <a:ext cx="10972800" cy="975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3600"/>
              <a:buFont typeface="Calibri"/>
              <a:buNone/>
            </a:pPr>
            <a:r>
              <a:rPr lang="en-US"/>
              <a:t>ClinicalPath - </a:t>
            </a:r>
            <a:r>
              <a:rPr lang="en-US">
                <a:solidFill>
                  <a:srgbClr val="C00000"/>
                </a:solidFill>
              </a:rPr>
              <a:t>User Interaction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324" name="Google Shape;324;p21"/>
          <p:cNvSpPr txBox="1"/>
          <p:nvPr/>
        </p:nvSpPr>
        <p:spPr>
          <a:xfrm>
            <a:off x="7780411" y="5826572"/>
            <a:ext cx="244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(c) Timestamp selection</a:t>
            </a:r>
            <a:endParaRPr b="1" i="0" sz="1800" u="none" cap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5" name="Google Shape;32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575" y="1409338"/>
            <a:ext cx="5273399" cy="39631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4688" y="1420787"/>
            <a:ext cx="5273416" cy="3926212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1"/>
          <p:cNvSpPr txBox="1"/>
          <p:nvPr/>
        </p:nvSpPr>
        <p:spPr>
          <a:xfrm>
            <a:off x="2360296" y="5845563"/>
            <a:ext cx="1942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(b) Node selection</a:t>
            </a:r>
            <a:endParaRPr b="1" i="0" sz="1800" u="none" cap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8" name="Google Shape;32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1771" y="5400144"/>
            <a:ext cx="5179250" cy="346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4649" y="5400144"/>
            <a:ext cx="5179250" cy="346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19dbecf8930_1_49"/>
          <p:cNvSpPr txBox="1"/>
          <p:nvPr>
            <p:ph idx="12" type="sldNum"/>
          </p:nvPr>
        </p:nvSpPr>
        <p:spPr>
          <a:xfrm>
            <a:off x="9251461" y="635634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6" name="Google Shape;336;g19dbecf8930_1_49"/>
          <p:cNvSpPr txBox="1"/>
          <p:nvPr>
            <p:ph type="title"/>
          </p:nvPr>
        </p:nvSpPr>
        <p:spPr>
          <a:xfrm>
            <a:off x="609600" y="342901"/>
            <a:ext cx="109728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3600"/>
              <a:buFont typeface="Calibri"/>
              <a:buNone/>
            </a:pPr>
            <a:r>
              <a:rPr lang="en-US"/>
              <a:t>ClinicalPath - </a:t>
            </a:r>
            <a:r>
              <a:rPr lang="en-US">
                <a:solidFill>
                  <a:srgbClr val="C00000"/>
                </a:solidFill>
              </a:rPr>
              <a:t>User Interaction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337" name="Google Shape;337;g19dbecf8930_1_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3735" y="1597481"/>
            <a:ext cx="5424527" cy="40529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g19dbecf8930_1_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3735" y="5650399"/>
            <a:ext cx="5424527" cy="363146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g19dbecf8930_1_49"/>
          <p:cNvSpPr txBox="1"/>
          <p:nvPr/>
        </p:nvSpPr>
        <p:spPr>
          <a:xfrm>
            <a:off x="3737939" y="6192064"/>
            <a:ext cx="4716119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(d) Tooltip with complementary information (1)</a:t>
            </a:r>
            <a:endParaRPr b="1" i="0" sz="1800" u="none" cap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b108fae7d0_1_0"/>
          <p:cNvSpPr txBox="1"/>
          <p:nvPr>
            <p:ph idx="12" type="sldNum"/>
          </p:nvPr>
        </p:nvSpPr>
        <p:spPr>
          <a:xfrm>
            <a:off x="9251461" y="635634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g1b108fae7d0_1_0"/>
          <p:cNvSpPr txBox="1"/>
          <p:nvPr>
            <p:ph type="title"/>
          </p:nvPr>
        </p:nvSpPr>
        <p:spPr>
          <a:xfrm>
            <a:off x="609600" y="342900"/>
            <a:ext cx="76716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3600"/>
              <a:buFont typeface="Calibri"/>
              <a:buNone/>
            </a:pPr>
            <a:r>
              <a:rPr lang="en-US"/>
              <a:t>ClinicalPath - </a:t>
            </a:r>
            <a:r>
              <a:rPr lang="en-US">
                <a:solidFill>
                  <a:srgbClr val="C00000"/>
                </a:solidFill>
              </a:rPr>
              <a:t>User Interaction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347" name="Google Shape;347;g1b108fae7d0_1_0"/>
          <p:cNvPicPr preferRelativeResize="0"/>
          <p:nvPr/>
        </p:nvPicPr>
        <p:blipFill rotWithShape="1">
          <a:blip r:embed="rId3">
            <a:alphaModFix/>
          </a:blip>
          <a:srcRect b="1690" l="0" r="0" t="2826"/>
          <a:stretch/>
        </p:blipFill>
        <p:spPr>
          <a:xfrm>
            <a:off x="320125" y="1451575"/>
            <a:ext cx="8389851" cy="45028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pic>
        <p:nvPicPr>
          <p:cNvPr id="348" name="Google Shape;348;g1b108fae7d0_1_0"/>
          <p:cNvPicPr preferRelativeResize="0"/>
          <p:nvPr/>
        </p:nvPicPr>
        <p:blipFill rotWithShape="1">
          <a:blip r:embed="rId4">
            <a:alphaModFix/>
          </a:blip>
          <a:srcRect b="2224" l="0" r="0" t="2726"/>
          <a:stretch/>
        </p:blipFill>
        <p:spPr>
          <a:xfrm>
            <a:off x="3959575" y="1762399"/>
            <a:ext cx="7746024" cy="432512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349" name="Google Shape;349;g1b108fae7d0_1_0"/>
          <p:cNvSpPr/>
          <p:nvPr/>
        </p:nvSpPr>
        <p:spPr>
          <a:xfrm>
            <a:off x="1057150" y="2953713"/>
            <a:ext cx="2232600" cy="1445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285750" rotWithShape="0" algn="bl" dir="5400000" dist="571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g1b108fae7d0_1_0"/>
          <p:cNvSpPr/>
          <p:nvPr/>
        </p:nvSpPr>
        <p:spPr>
          <a:xfrm>
            <a:off x="4765675" y="3202412"/>
            <a:ext cx="2232600" cy="1445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285750" rotWithShape="0" algn="bl" dir="5400000" dist="571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g1b108fae7d0_1_0"/>
          <p:cNvSpPr txBox="1"/>
          <p:nvPr/>
        </p:nvSpPr>
        <p:spPr>
          <a:xfrm>
            <a:off x="3737939" y="6192064"/>
            <a:ext cx="4716119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(d) Tooltip with complementary information (2)</a:t>
            </a:r>
            <a:endParaRPr b="1" i="0" sz="1800" u="none" cap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1b108fae7d0_1_22"/>
          <p:cNvSpPr txBox="1"/>
          <p:nvPr>
            <p:ph idx="12" type="sldNum"/>
          </p:nvPr>
        </p:nvSpPr>
        <p:spPr>
          <a:xfrm>
            <a:off x="9251461" y="635634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8" name="Google Shape;358;g1b108fae7d0_1_22"/>
          <p:cNvSpPr txBox="1"/>
          <p:nvPr>
            <p:ph type="title"/>
          </p:nvPr>
        </p:nvSpPr>
        <p:spPr>
          <a:xfrm>
            <a:off x="609600" y="342900"/>
            <a:ext cx="76716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3600"/>
              <a:buFont typeface="Calibri"/>
              <a:buNone/>
            </a:pPr>
            <a:r>
              <a:rPr lang="en-US"/>
              <a:t>ClinicalPath - </a:t>
            </a:r>
            <a:r>
              <a:rPr lang="en-US">
                <a:solidFill>
                  <a:srgbClr val="C00000"/>
                </a:solidFill>
              </a:rPr>
              <a:t>User Interaction</a:t>
            </a:r>
            <a:endParaRPr>
              <a:solidFill>
                <a:srgbClr val="C00000"/>
              </a:solidFill>
            </a:endParaRPr>
          </a:p>
        </p:txBody>
      </p:sp>
      <p:grpSp>
        <p:nvGrpSpPr>
          <p:cNvPr id="359" name="Google Shape;359;g1b108fae7d0_1_22"/>
          <p:cNvGrpSpPr/>
          <p:nvPr/>
        </p:nvGrpSpPr>
        <p:grpSpPr>
          <a:xfrm>
            <a:off x="661287" y="1983873"/>
            <a:ext cx="9440996" cy="3840087"/>
            <a:chOff x="429550" y="1505450"/>
            <a:chExt cx="11662750" cy="4743776"/>
          </a:xfrm>
        </p:grpSpPr>
        <p:grpSp>
          <p:nvGrpSpPr>
            <p:cNvPr id="360" name="Google Shape;360;g1b108fae7d0_1_22"/>
            <p:cNvGrpSpPr/>
            <p:nvPr/>
          </p:nvGrpSpPr>
          <p:grpSpPr>
            <a:xfrm>
              <a:off x="429550" y="1505450"/>
              <a:ext cx="8362850" cy="4459101"/>
              <a:chOff x="429550" y="1505450"/>
              <a:chExt cx="8362850" cy="4459101"/>
            </a:xfrm>
          </p:grpSpPr>
          <p:pic>
            <p:nvPicPr>
              <p:cNvPr id="361" name="Google Shape;361;g1b108fae7d0_1_22"/>
              <p:cNvPicPr preferRelativeResize="0"/>
              <p:nvPr/>
            </p:nvPicPr>
            <p:blipFill rotWithShape="1">
              <a:blip r:embed="rId3">
                <a:alphaModFix/>
              </a:blip>
              <a:srcRect b="2670" l="1536" r="0" t="3922"/>
              <a:stretch/>
            </p:blipFill>
            <p:spPr>
              <a:xfrm>
                <a:off x="429550" y="1505450"/>
                <a:ext cx="8362850" cy="44591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</p:pic>
          <p:sp>
            <p:nvSpPr>
              <p:cNvPr id="362" name="Google Shape;362;g1b108fae7d0_1_22"/>
              <p:cNvSpPr/>
              <p:nvPr/>
            </p:nvSpPr>
            <p:spPr>
              <a:xfrm>
                <a:off x="1603725" y="4230175"/>
                <a:ext cx="274200" cy="276300"/>
              </a:xfrm>
              <a:prstGeom prst="ellipse">
                <a:avLst/>
              </a:prstGeom>
              <a:noFill/>
              <a:ln cap="flat" cmpd="sng" w="285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highlight>
                    <a:srgbClr val="FFFF00"/>
                  </a:highlight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63" name="Google Shape;363;g1b108fae7d0_1_22"/>
            <p:cNvPicPr preferRelativeResize="0"/>
            <p:nvPr/>
          </p:nvPicPr>
          <p:blipFill rotWithShape="1">
            <a:blip r:embed="rId4">
              <a:alphaModFix/>
            </a:blip>
            <a:srcRect b="2461" l="2619" r="0" t="3207"/>
            <a:stretch/>
          </p:blipFill>
          <p:spPr>
            <a:xfrm>
              <a:off x="4553125" y="2144300"/>
              <a:ext cx="7539175" cy="410492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49803"/>
                </a:srgbClr>
              </a:outerShdw>
            </a:effectLst>
          </p:spPr>
        </p:pic>
        <p:sp>
          <p:nvSpPr>
            <p:cNvPr id="364" name="Google Shape;364;g1b108fae7d0_1_22"/>
            <p:cNvSpPr/>
            <p:nvPr/>
          </p:nvSpPr>
          <p:spPr>
            <a:xfrm>
              <a:off x="5548325" y="3004575"/>
              <a:ext cx="274200" cy="276300"/>
            </a:xfrm>
            <a:prstGeom prst="ellipse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5" name="Google Shape;365;g1b108fae7d0_1_22"/>
          <p:cNvSpPr txBox="1"/>
          <p:nvPr/>
        </p:nvSpPr>
        <p:spPr>
          <a:xfrm>
            <a:off x="3313164" y="5935214"/>
            <a:ext cx="471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(d) Tooltip with complementary information (3)</a:t>
            </a:r>
            <a:endParaRPr b="1" i="0" sz="1800" u="none" cap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6" name="Google Shape;366;g1b108fae7d0_1_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68375" y="1379175"/>
            <a:ext cx="3405600" cy="493425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g1b108fae7d0_1_22"/>
          <p:cNvSpPr txBox="1"/>
          <p:nvPr/>
        </p:nvSpPr>
        <p:spPr>
          <a:xfrm>
            <a:off x="661275" y="1318500"/>
            <a:ext cx="3307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RC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(Rate of Change):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g1b108fae7d0_1_22"/>
          <p:cNvSpPr txBox="1"/>
          <p:nvPr/>
        </p:nvSpPr>
        <p:spPr>
          <a:xfrm>
            <a:off x="7373975" y="1226100"/>
            <a:ext cx="3307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Vlt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the later value, and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Vet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the earlier value.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1b0fc4f7a42_1_0"/>
          <p:cNvSpPr txBox="1"/>
          <p:nvPr>
            <p:ph idx="12" type="sldNum"/>
          </p:nvPr>
        </p:nvSpPr>
        <p:spPr>
          <a:xfrm>
            <a:off x="9251461" y="635634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5" name="Google Shape;375;g1b0fc4f7a42_1_0"/>
          <p:cNvSpPr txBox="1"/>
          <p:nvPr>
            <p:ph type="title"/>
          </p:nvPr>
        </p:nvSpPr>
        <p:spPr>
          <a:xfrm>
            <a:off x="609600" y="342900"/>
            <a:ext cx="76716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3600"/>
              <a:buFont typeface="Calibri"/>
              <a:buNone/>
            </a:pPr>
            <a:r>
              <a:rPr lang="en-US"/>
              <a:t>ClinicalPath - </a:t>
            </a:r>
            <a:r>
              <a:rPr lang="en-US">
                <a:solidFill>
                  <a:srgbClr val="C00000"/>
                </a:solidFill>
              </a:rPr>
              <a:t>User Interaction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376" name="Google Shape;376;g1b0fc4f7a42_1_0"/>
          <p:cNvPicPr preferRelativeResize="0"/>
          <p:nvPr/>
        </p:nvPicPr>
        <p:blipFill rotWithShape="1">
          <a:blip r:embed="rId3">
            <a:alphaModFix/>
          </a:blip>
          <a:srcRect b="2108" l="0" r="0" t="3774"/>
          <a:stretch/>
        </p:blipFill>
        <p:spPr>
          <a:xfrm>
            <a:off x="798963" y="1496000"/>
            <a:ext cx="7671600" cy="40585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377" name="Google Shape;377;g1b0fc4f7a42_1_0"/>
          <p:cNvSpPr/>
          <p:nvPr/>
        </p:nvSpPr>
        <p:spPr>
          <a:xfrm>
            <a:off x="977488" y="2465075"/>
            <a:ext cx="992100" cy="858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285750" rotWithShape="0" algn="bl" dir="5400000" dist="571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8" name="Google Shape;378;g1b0fc4f7a42_1_0"/>
          <p:cNvPicPr preferRelativeResize="0"/>
          <p:nvPr/>
        </p:nvPicPr>
        <p:blipFill rotWithShape="1">
          <a:blip r:embed="rId4">
            <a:alphaModFix/>
          </a:blip>
          <a:srcRect b="1914" l="1632" r="0" t="5543"/>
          <a:stretch/>
        </p:blipFill>
        <p:spPr>
          <a:xfrm>
            <a:off x="4669988" y="2325475"/>
            <a:ext cx="6723049" cy="35549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379" name="Google Shape;379;g1b0fc4f7a42_1_0"/>
          <p:cNvSpPr/>
          <p:nvPr/>
        </p:nvSpPr>
        <p:spPr>
          <a:xfrm>
            <a:off x="5129238" y="3025750"/>
            <a:ext cx="1301700" cy="1384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285750" rotWithShape="0" algn="bl" dir="5400000" dist="571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g1b0fc4f7a42_1_0"/>
          <p:cNvSpPr txBox="1"/>
          <p:nvPr/>
        </p:nvSpPr>
        <p:spPr>
          <a:xfrm>
            <a:off x="3737939" y="6192064"/>
            <a:ext cx="4716119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(d) Tooltip with complementary information (4)</a:t>
            </a:r>
            <a:endParaRPr b="1" i="0" sz="1800" u="none" cap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2"/>
          <p:cNvSpPr txBox="1"/>
          <p:nvPr>
            <p:ph idx="12" type="sldNum"/>
          </p:nvPr>
        </p:nvSpPr>
        <p:spPr>
          <a:xfrm>
            <a:off x="9251461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7" name="Google Shape;387;p22"/>
          <p:cNvSpPr txBox="1"/>
          <p:nvPr/>
        </p:nvSpPr>
        <p:spPr>
          <a:xfrm>
            <a:off x="402457" y="5994588"/>
            <a:ext cx="11387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Impact of the filtering option “Only days with tests” in the screen space required for a patient with sporadic test results. </a:t>
            </a:r>
            <a:r>
              <a:rPr b="1" i="0" lang="en-US" sz="18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Filtering enabled (a) and disabled (b)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The highlighted areas show the blank space reduction. 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8" name="Google Shape;38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7782" y="1362428"/>
            <a:ext cx="9182101" cy="4490095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22"/>
          <p:cNvSpPr txBox="1"/>
          <p:nvPr/>
        </p:nvSpPr>
        <p:spPr>
          <a:xfrm>
            <a:off x="769145" y="4491907"/>
            <a:ext cx="5286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(a) </a:t>
            </a:r>
            <a:endParaRPr b="1" i="0" sz="1800" u="none" cap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2"/>
          <p:cNvSpPr txBox="1"/>
          <p:nvPr/>
        </p:nvSpPr>
        <p:spPr>
          <a:xfrm>
            <a:off x="10479882" y="4491907"/>
            <a:ext cx="5286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(b) </a:t>
            </a:r>
            <a:endParaRPr b="1" i="0" sz="1800" u="none" cap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2"/>
          <p:cNvSpPr txBox="1"/>
          <p:nvPr>
            <p:ph type="title"/>
          </p:nvPr>
        </p:nvSpPr>
        <p:spPr>
          <a:xfrm>
            <a:off x="609600" y="339126"/>
            <a:ext cx="109728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3600"/>
              <a:buFont typeface="Calibri"/>
              <a:buNone/>
            </a:pPr>
            <a:r>
              <a:rPr lang="en-US"/>
              <a:t>ClinicalPath - </a:t>
            </a:r>
            <a:r>
              <a:rPr lang="en-US">
                <a:solidFill>
                  <a:srgbClr val="C00000"/>
                </a:solidFill>
              </a:rPr>
              <a:t>User Interaction</a:t>
            </a:r>
            <a:endParaRPr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2"/>
          <p:cNvSpPr txBox="1"/>
          <p:nvPr>
            <p:ph type="ctrTitle"/>
          </p:nvPr>
        </p:nvSpPr>
        <p:spPr>
          <a:xfrm>
            <a:off x="2432049" y="2663738"/>
            <a:ext cx="73278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100000"/>
              <a:buFont typeface="Calibri"/>
              <a:buNone/>
            </a:pPr>
            <a:r>
              <a:rPr lang="en-US"/>
              <a:t>04.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100000"/>
              <a:buFont typeface="Calibri"/>
              <a:buNone/>
            </a:pPr>
            <a:r>
              <a:rPr lang="en-US"/>
              <a:t>Case Study</a:t>
            </a:r>
            <a:endParaRPr/>
          </a:p>
        </p:txBody>
      </p:sp>
      <p:sp>
        <p:nvSpPr>
          <p:cNvPr id="397" name="Google Shape;397;p12"/>
          <p:cNvSpPr txBox="1"/>
          <p:nvPr>
            <p:ph idx="12" type="sldNum"/>
          </p:nvPr>
        </p:nvSpPr>
        <p:spPr>
          <a:xfrm>
            <a:off x="9261231" y="6436382"/>
            <a:ext cx="2743200" cy="205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Icon&#10;&#10;Description automatically generated" id="398" name="Google Shape;39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8800" y="3829050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3"/>
          <p:cNvSpPr txBox="1"/>
          <p:nvPr>
            <p:ph idx="12" type="sldNum"/>
          </p:nvPr>
        </p:nvSpPr>
        <p:spPr>
          <a:xfrm>
            <a:off x="9251461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5" name="Google Shape;405;p13"/>
          <p:cNvSpPr txBox="1"/>
          <p:nvPr>
            <p:ph type="title"/>
          </p:nvPr>
        </p:nvSpPr>
        <p:spPr>
          <a:xfrm>
            <a:off x="609600" y="342901"/>
            <a:ext cx="10972800" cy="975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3600"/>
              <a:buFont typeface="Calibri"/>
              <a:buNone/>
            </a:pPr>
            <a:r>
              <a:rPr lang="en-US"/>
              <a:t>Case Study 1 - </a:t>
            </a:r>
            <a:r>
              <a:rPr lang="en-US">
                <a:solidFill>
                  <a:srgbClr val="C00000"/>
                </a:solidFill>
              </a:rPr>
              <a:t>HB &amp; COVID tests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406" name="Google Shape;406;p13"/>
          <p:cNvSpPr txBox="1"/>
          <p:nvPr/>
        </p:nvSpPr>
        <p:spPr>
          <a:xfrm>
            <a:off x="1341690" y="6520426"/>
            <a:ext cx="9725114" cy="307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ClinicalPath for other patient activity over time, with COVID and red series hemogram test information in the ClinicalPath system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7" name="Google Shape;40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7333" y="6120333"/>
            <a:ext cx="6197336" cy="414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13"/>
          <p:cNvPicPr preferRelativeResize="0"/>
          <p:nvPr/>
        </p:nvPicPr>
        <p:blipFill rotWithShape="1">
          <a:blip r:embed="rId4">
            <a:alphaModFix/>
          </a:blip>
          <a:srcRect b="0" l="10623" r="11873" t="1991"/>
          <a:stretch/>
        </p:blipFill>
        <p:spPr>
          <a:xfrm>
            <a:off x="2635072" y="1139490"/>
            <a:ext cx="6921856" cy="4923914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13"/>
          <p:cNvSpPr/>
          <p:nvPr/>
        </p:nvSpPr>
        <p:spPr>
          <a:xfrm>
            <a:off x="3103147" y="3527428"/>
            <a:ext cx="5643900" cy="150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3"/>
          <p:cNvSpPr/>
          <p:nvPr/>
        </p:nvSpPr>
        <p:spPr>
          <a:xfrm>
            <a:off x="3103147" y="4268853"/>
            <a:ext cx="5643900" cy="150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3"/>
          <p:cNvSpPr/>
          <p:nvPr/>
        </p:nvSpPr>
        <p:spPr>
          <a:xfrm>
            <a:off x="7956847" y="4757328"/>
            <a:ext cx="329400" cy="150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3"/>
          <p:cNvSpPr/>
          <p:nvPr/>
        </p:nvSpPr>
        <p:spPr>
          <a:xfrm>
            <a:off x="7359622" y="4831953"/>
            <a:ext cx="226500" cy="555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3"/>
          <p:cNvSpPr/>
          <p:nvPr/>
        </p:nvSpPr>
        <p:spPr>
          <a:xfrm>
            <a:off x="3743197" y="4757328"/>
            <a:ext cx="226500" cy="150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8"/>
          <p:cNvSpPr txBox="1"/>
          <p:nvPr>
            <p:ph idx="12" type="sldNum"/>
          </p:nvPr>
        </p:nvSpPr>
        <p:spPr>
          <a:xfrm>
            <a:off x="9251461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0" name="Google Shape;420;p18"/>
          <p:cNvSpPr txBox="1"/>
          <p:nvPr>
            <p:ph type="title"/>
          </p:nvPr>
        </p:nvSpPr>
        <p:spPr>
          <a:xfrm>
            <a:off x="609600" y="342901"/>
            <a:ext cx="10972800" cy="975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3600"/>
              <a:buFont typeface="Calibri"/>
              <a:buNone/>
            </a:pPr>
            <a:r>
              <a:rPr lang="en-US"/>
              <a:t>Case Study 2 - </a:t>
            </a:r>
            <a:r>
              <a:rPr lang="en-US">
                <a:solidFill>
                  <a:srgbClr val="C00000"/>
                </a:solidFill>
              </a:rPr>
              <a:t>Kidney &amp; Liver Tests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421" name="Google Shape;421;p18"/>
          <p:cNvSpPr txBox="1"/>
          <p:nvPr/>
        </p:nvSpPr>
        <p:spPr>
          <a:xfrm>
            <a:off x="1205895" y="6200580"/>
            <a:ext cx="9516677" cy="307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Visualization of patient activity over time, focused on kidney and liver function tests, using the proposed ClinicalPath system.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2" name="Google Shape;42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6533" y="1375508"/>
            <a:ext cx="8915402" cy="4730908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18"/>
          <p:cNvSpPr/>
          <p:nvPr/>
        </p:nvSpPr>
        <p:spPr>
          <a:xfrm>
            <a:off x="1588425" y="4789625"/>
            <a:ext cx="6448800" cy="240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8"/>
          <p:cNvSpPr/>
          <p:nvPr/>
        </p:nvSpPr>
        <p:spPr>
          <a:xfrm>
            <a:off x="1588425" y="3472825"/>
            <a:ext cx="6689700" cy="513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6"/>
          <p:cNvSpPr txBox="1"/>
          <p:nvPr>
            <p:ph type="ctrTitle"/>
          </p:nvPr>
        </p:nvSpPr>
        <p:spPr>
          <a:xfrm>
            <a:off x="2432049" y="2739938"/>
            <a:ext cx="7327901" cy="10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100000"/>
              <a:buFont typeface="Calibri"/>
              <a:buNone/>
            </a:pPr>
            <a:r>
              <a:rPr lang="en-US"/>
              <a:t>05.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100000"/>
              <a:buFont typeface="Calibri"/>
              <a:buNone/>
            </a:pPr>
            <a:r>
              <a:rPr lang="en-US"/>
              <a:t>User Validation</a:t>
            </a:r>
            <a:endParaRPr/>
          </a:p>
        </p:txBody>
      </p:sp>
      <p:sp>
        <p:nvSpPr>
          <p:cNvPr id="430" name="Google Shape;430;p26"/>
          <p:cNvSpPr txBox="1"/>
          <p:nvPr>
            <p:ph idx="12" type="sldNum"/>
          </p:nvPr>
        </p:nvSpPr>
        <p:spPr>
          <a:xfrm>
            <a:off x="9261231" y="6436382"/>
            <a:ext cx="2743200" cy="205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31" name="Google Shape;43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8800" y="4022271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7"/>
          <p:cNvSpPr txBox="1"/>
          <p:nvPr>
            <p:ph idx="12" type="sldNum"/>
          </p:nvPr>
        </p:nvSpPr>
        <p:spPr>
          <a:xfrm>
            <a:off x="9251461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8" name="Google Shape;438;p27"/>
          <p:cNvSpPr txBox="1"/>
          <p:nvPr>
            <p:ph type="title"/>
          </p:nvPr>
        </p:nvSpPr>
        <p:spPr>
          <a:xfrm>
            <a:off x="609600" y="342901"/>
            <a:ext cx="10972800" cy="975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3600"/>
              <a:buFont typeface="Calibri"/>
              <a:buNone/>
            </a:pPr>
            <a:r>
              <a:rPr lang="en-US"/>
              <a:t>User Validation - </a:t>
            </a:r>
            <a:r>
              <a:rPr lang="en-US">
                <a:solidFill>
                  <a:srgbClr val="C00000"/>
                </a:solidFill>
              </a:rPr>
              <a:t>Setting Experiment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439" name="Google Shape;439;p27"/>
          <p:cNvSpPr txBox="1"/>
          <p:nvPr>
            <p:ph idx="1" type="body"/>
          </p:nvPr>
        </p:nvSpPr>
        <p:spPr>
          <a:xfrm>
            <a:off x="609600" y="1375508"/>
            <a:ext cx="10972800" cy="4923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-US"/>
              <a:t>Online and remotely evaluation.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-US"/>
              <a:t>Provides two videos:</a:t>
            </a:r>
            <a:endParaRPr/>
          </a:p>
          <a:p>
            <a: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oto Sans Symbols"/>
              <a:buChar char="▪"/>
            </a:pPr>
            <a:r>
              <a:rPr lang="en-US"/>
              <a:t>The tutorial installation system</a:t>
            </a:r>
            <a:endParaRPr/>
          </a:p>
          <a:p>
            <a: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oto Sans Symbols"/>
              <a:buChar char="▪"/>
            </a:pPr>
            <a:r>
              <a:rPr lang="en-US"/>
              <a:t>Instructions about the system’s basic functionalities 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0"/>
          <p:cNvSpPr txBox="1"/>
          <p:nvPr>
            <p:ph idx="12" type="sldNum"/>
          </p:nvPr>
        </p:nvSpPr>
        <p:spPr>
          <a:xfrm>
            <a:off x="9251461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6" name="Google Shape;446;p30"/>
          <p:cNvSpPr txBox="1"/>
          <p:nvPr>
            <p:ph type="title"/>
          </p:nvPr>
        </p:nvSpPr>
        <p:spPr>
          <a:xfrm>
            <a:off x="609600" y="342901"/>
            <a:ext cx="10972800" cy="975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3600"/>
              <a:buFont typeface="Calibri"/>
              <a:buNone/>
            </a:pPr>
            <a:r>
              <a:rPr lang="en-US"/>
              <a:t>User Validation - </a:t>
            </a:r>
            <a:r>
              <a:rPr lang="en-US">
                <a:solidFill>
                  <a:srgbClr val="C00000"/>
                </a:solidFill>
              </a:rPr>
              <a:t>Participants &amp; Questionnaire </a:t>
            </a:r>
            <a:endParaRPr/>
          </a:p>
        </p:txBody>
      </p:sp>
      <p:sp>
        <p:nvSpPr>
          <p:cNvPr id="447" name="Google Shape;447;p30"/>
          <p:cNvSpPr txBox="1"/>
          <p:nvPr>
            <p:ph idx="1" type="body"/>
          </p:nvPr>
        </p:nvSpPr>
        <p:spPr>
          <a:xfrm>
            <a:off x="609600" y="1375508"/>
            <a:ext cx="10972800" cy="4923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60375" lvl="0" marL="460375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b="1" lang="en-US">
                <a:solidFill>
                  <a:schemeClr val="dk1"/>
                </a:solidFill>
              </a:rPr>
              <a:t>Participants</a:t>
            </a:r>
            <a:endParaRPr>
              <a:solidFill>
                <a:schemeClr val="dk1"/>
              </a:solidFill>
            </a:endParaRPr>
          </a:p>
          <a:p>
            <a:pPr indent="-344487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/>
              <a:t>15 medical graduates in Brazil.</a:t>
            </a:r>
            <a:endParaRPr/>
          </a:p>
          <a:p>
            <a:pPr indent="-344487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They had to interact with ClinicalPath system:</a:t>
            </a:r>
            <a:endParaRPr/>
          </a:p>
          <a:p>
            <a:pPr indent="-342900" lvl="2" marL="1374775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600"/>
              <a:buChar char="✔"/>
            </a:pPr>
            <a:r>
              <a:rPr lang="en-US"/>
              <a:t>66% men and 33% women</a:t>
            </a:r>
            <a:endParaRPr/>
          </a:p>
          <a:p>
            <a:pPr indent="-342900" lvl="2" marL="1374775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✔"/>
            </a:pPr>
            <a:r>
              <a:rPr lang="en-US"/>
              <a:t>60% of the participants are 24 years old or less</a:t>
            </a:r>
            <a:endParaRPr/>
          </a:p>
          <a:p>
            <a:pPr indent="-460375" lvl="0" marL="46037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b="1" lang="en-US">
                <a:solidFill>
                  <a:schemeClr val="dk1"/>
                </a:solidFill>
              </a:rPr>
              <a:t>Questionnaire</a:t>
            </a:r>
            <a:endParaRPr>
              <a:solidFill>
                <a:schemeClr val="dk1"/>
              </a:solidFill>
            </a:endParaRPr>
          </a:p>
          <a:p>
            <a:pPr indent="-344487" lvl="1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Background and experience</a:t>
            </a:r>
            <a:endParaRPr sz="2800"/>
          </a:p>
          <a:p>
            <a:pPr indent="-344487" lvl="1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3 questions that do not required medical knowledge</a:t>
            </a:r>
            <a:endParaRPr sz="2800"/>
          </a:p>
          <a:p>
            <a:pPr indent="-344487" lvl="1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5 questions that required medical knowledge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9"/>
          <p:cNvSpPr txBox="1"/>
          <p:nvPr>
            <p:ph idx="12" type="sldNum"/>
          </p:nvPr>
        </p:nvSpPr>
        <p:spPr>
          <a:xfrm>
            <a:off x="9251461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4" name="Google Shape;454;p29"/>
          <p:cNvSpPr txBox="1"/>
          <p:nvPr>
            <p:ph type="title"/>
          </p:nvPr>
        </p:nvSpPr>
        <p:spPr>
          <a:xfrm>
            <a:off x="609600" y="342901"/>
            <a:ext cx="10972800" cy="975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3600"/>
              <a:buFont typeface="Calibri"/>
              <a:buNone/>
            </a:pPr>
            <a:r>
              <a:rPr lang="en-US"/>
              <a:t>User Validation - </a:t>
            </a:r>
            <a:r>
              <a:rPr lang="en-US">
                <a:solidFill>
                  <a:srgbClr val="C00000"/>
                </a:solidFill>
              </a:rPr>
              <a:t>Pilot Study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455" name="Google Shape;455;p29"/>
          <p:cNvSpPr txBox="1"/>
          <p:nvPr>
            <p:ph idx="1" type="body"/>
          </p:nvPr>
        </p:nvSpPr>
        <p:spPr>
          <a:xfrm>
            <a:off x="609600" y="1375508"/>
            <a:ext cx="10972800" cy="49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60375" lvl="0" marL="460375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-US"/>
              <a:t>The need for the installation video</a:t>
            </a:r>
            <a:endParaRPr/>
          </a:p>
          <a:p>
            <a:pPr indent="-460375" lvl="0" marL="460375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-US"/>
              <a:t>The participants consider about:</a:t>
            </a:r>
            <a:endParaRPr/>
          </a:p>
          <a:p>
            <a: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oto Sans Symbols"/>
              <a:buChar char="▪"/>
            </a:pPr>
            <a:r>
              <a:rPr lang="en-US"/>
              <a:t>The response time satisfactory</a:t>
            </a:r>
            <a:endParaRPr/>
          </a:p>
          <a:p>
            <a: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oto Sans Symbols"/>
              <a:buChar char="▪"/>
            </a:pPr>
            <a:r>
              <a:rPr lang="en-US"/>
              <a:t>The instructional video enough to understand the system’s usability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1"/>
          <p:cNvSpPr txBox="1"/>
          <p:nvPr>
            <p:ph idx="12" type="sldNum"/>
          </p:nvPr>
        </p:nvSpPr>
        <p:spPr>
          <a:xfrm>
            <a:off x="9251461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2" name="Google Shape;462;p31"/>
          <p:cNvSpPr txBox="1"/>
          <p:nvPr>
            <p:ph type="title"/>
          </p:nvPr>
        </p:nvSpPr>
        <p:spPr>
          <a:xfrm>
            <a:off x="609600" y="342901"/>
            <a:ext cx="10972800" cy="975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3600"/>
              <a:buFont typeface="Calibri"/>
              <a:buNone/>
            </a:pPr>
            <a:r>
              <a:rPr lang="en-US"/>
              <a:t>User Validation - </a:t>
            </a:r>
            <a:r>
              <a:rPr lang="en-US">
                <a:solidFill>
                  <a:srgbClr val="C00000"/>
                </a:solidFill>
              </a:rPr>
              <a:t>Result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463" name="Google Shape;46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4875" y="2609364"/>
            <a:ext cx="5172549" cy="177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1605" y="2388664"/>
            <a:ext cx="5347748" cy="2221375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31"/>
          <p:cNvSpPr/>
          <p:nvPr/>
        </p:nvSpPr>
        <p:spPr>
          <a:xfrm>
            <a:off x="471550" y="2198100"/>
            <a:ext cx="5539200" cy="2602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31"/>
          <p:cNvSpPr/>
          <p:nvPr/>
        </p:nvSpPr>
        <p:spPr>
          <a:xfrm>
            <a:off x="6215875" y="2198100"/>
            <a:ext cx="5539200" cy="2602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31"/>
          <p:cNvSpPr/>
          <p:nvPr/>
        </p:nvSpPr>
        <p:spPr>
          <a:xfrm>
            <a:off x="4072825" y="3318700"/>
            <a:ext cx="1263900" cy="216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31"/>
          <p:cNvSpPr/>
          <p:nvPr/>
        </p:nvSpPr>
        <p:spPr>
          <a:xfrm>
            <a:off x="11106625" y="4389350"/>
            <a:ext cx="475800" cy="216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2"/>
          <p:cNvSpPr txBox="1"/>
          <p:nvPr>
            <p:ph idx="12" type="sldNum"/>
          </p:nvPr>
        </p:nvSpPr>
        <p:spPr>
          <a:xfrm>
            <a:off x="9251461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5" name="Google Shape;475;p32"/>
          <p:cNvSpPr txBox="1"/>
          <p:nvPr>
            <p:ph idx="1" type="body"/>
          </p:nvPr>
        </p:nvSpPr>
        <p:spPr>
          <a:xfrm>
            <a:off x="609600" y="1375508"/>
            <a:ext cx="10972800" cy="4923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65138" lvl="2" marL="465138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b="1" lang="en-US" sz="3000"/>
              <a:t>Questions about user preferences and feedbacks</a:t>
            </a:r>
            <a:endParaRPr b="1" sz="3000"/>
          </a:p>
        </p:txBody>
      </p:sp>
      <p:sp>
        <p:nvSpPr>
          <p:cNvPr id="476" name="Google Shape;476;p32"/>
          <p:cNvSpPr txBox="1"/>
          <p:nvPr/>
        </p:nvSpPr>
        <p:spPr>
          <a:xfrm>
            <a:off x="4708075" y="5555186"/>
            <a:ext cx="654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Participants answer for the user preferences of the system 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7" name="Google Shape;477;p32"/>
          <p:cNvPicPr preferRelativeResize="0"/>
          <p:nvPr/>
        </p:nvPicPr>
        <p:blipFill rotWithShape="1">
          <a:blip r:embed="rId3">
            <a:alphaModFix/>
          </a:blip>
          <a:srcRect b="13468" l="5177" r="2202" t="14735"/>
          <a:stretch/>
        </p:blipFill>
        <p:spPr>
          <a:xfrm>
            <a:off x="4083600" y="2181625"/>
            <a:ext cx="7606253" cy="3316554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2"/>
          <p:cNvSpPr/>
          <p:nvPr/>
        </p:nvSpPr>
        <p:spPr>
          <a:xfrm>
            <a:off x="609600" y="2334025"/>
            <a:ext cx="3480600" cy="365100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Intuitiveness and Usability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32"/>
          <p:cNvSpPr/>
          <p:nvPr/>
        </p:nvSpPr>
        <p:spPr>
          <a:xfrm>
            <a:off x="609600" y="2902275"/>
            <a:ext cx="3480600" cy="365100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Efficiency to optimize their time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32"/>
          <p:cNvSpPr/>
          <p:nvPr/>
        </p:nvSpPr>
        <p:spPr>
          <a:xfrm>
            <a:off x="609600" y="3460575"/>
            <a:ext cx="3480600" cy="365100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Ease to use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32"/>
          <p:cNvSpPr/>
          <p:nvPr/>
        </p:nvSpPr>
        <p:spPr>
          <a:xfrm>
            <a:off x="609600" y="4018875"/>
            <a:ext cx="3480600" cy="365100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Easiness of system learning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32"/>
          <p:cNvSpPr txBox="1"/>
          <p:nvPr>
            <p:ph type="title"/>
          </p:nvPr>
        </p:nvSpPr>
        <p:spPr>
          <a:xfrm>
            <a:off x="609600" y="342901"/>
            <a:ext cx="109728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3600"/>
              <a:buFont typeface="Calibri"/>
              <a:buNone/>
            </a:pPr>
            <a:r>
              <a:rPr lang="en-US"/>
              <a:t>User Validation - </a:t>
            </a:r>
            <a:r>
              <a:rPr lang="en-US">
                <a:solidFill>
                  <a:srgbClr val="C00000"/>
                </a:solidFill>
              </a:rPr>
              <a:t>Result</a:t>
            </a:r>
            <a:endParaRPr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8"/>
          <p:cNvSpPr txBox="1"/>
          <p:nvPr>
            <p:ph type="ctrTitle"/>
          </p:nvPr>
        </p:nvSpPr>
        <p:spPr>
          <a:xfrm>
            <a:off x="2432049" y="2739938"/>
            <a:ext cx="7327901" cy="10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100000"/>
              <a:buFont typeface="Calibri"/>
              <a:buNone/>
            </a:pPr>
            <a:r>
              <a:rPr lang="en-US"/>
              <a:t>06.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100000"/>
              <a:buFont typeface="Calibri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488" name="Google Shape;488;p28"/>
          <p:cNvSpPr txBox="1"/>
          <p:nvPr>
            <p:ph idx="12" type="sldNum"/>
          </p:nvPr>
        </p:nvSpPr>
        <p:spPr>
          <a:xfrm>
            <a:off x="9261231" y="6436382"/>
            <a:ext cx="2743200" cy="205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Icon&#10;&#10;Description automatically generated" id="489" name="Google Shape;48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58848" y="3913187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4"/>
          <p:cNvSpPr txBox="1"/>
          <p:nvPr>
            <p:ph idx="12" type="sldNum"/>
          </p:nvPr>
        </p:nvSpPr>
        <p:spPr>
          <a:xfrm>
            <a:off x="9251461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6" name="Google Shape;496;p34"/>
          <p:cNvSpPr txBox="1"/>
          <p:nvPr>
            <p:ph type="title"/>
          </p:nvPr>
        </p:nvSpPr>
        <p:spPr>
          <a:xfrm>
            <a:off x="609600" y="342901"/>
            <a:ext cx="10972800" cy="975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3600"/>
              <a:buFont typeface="Calibri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497" name="Google Shape;497;p34"/>
          <p:cNvSpPr txBox="1"/>
          <p:nvPr>
            <p:ph idx="1" type="body"/>
          </p:nvPr>
        </p:nvSpPr>
        <p:spPr>
          <a:xfrm>
            <a:off x="609600" y="1375508"/>
            <a:ext cx="10972800" cy="4923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191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-US"/>
              <a:t>EHR &amp; visualization techniques: insightful and informative systems</a:t>
            </a:r>
            <a:endParaRPr/>
          </a:p>
          <a:p>
            <a:pPr indent="-4191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-US"/>
              <a:t>ClinicalPath is an important tool for EHR.</a:t>
            </a:r>
            <a:endParaRPr/>
          </a:p>
          <a:p>
            <a:pPr indent="-344487" lvl="1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oto Sans Symbols"/>
              <a:buChar char="▪"/>
            </a:pPr>
            <a:r>
              <a:rPr lang="en-US"/>
              <a:t>Track the clinical evolution of a patient.</a:t>
            </a:r>
            <a:endParaRPr/>
          </a:p>
          <a:p>
            <a:pPr indent="-344487" lvl="1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oto Sans Symbols"/>
              <a:buChar char="▪"/>
            </a:pPr>
            <a:r>
              <a:rPr lang="en-US"/>
              <a:t>Reveal patient test information over time in a screen view.</a:t>
            </a:r>
            <a:endParaRPr/>
          </a:p>
          <a:p>
            <a:pPr indent="-344487" lvl="1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oto Sans Symbols"/>
              <a:buChar char="▪"/>
            </a:pPr>
            <a:r>
              <a:rPr lang="en-US"/>
              <a:t>Match the real needs of medical practitioners by a group of 15 domain experts.</a:t>
            </a:r>
            <a:endParaRPr/>
          </a:p>
          <a:p>
            <a:pPr indent="-4191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-US" sz="3000"/>
              <a:t>The</a:t>
            </a:r>
            <a:r>
              <a:rPr lang="en-US"/>
              <a:t> visualization system is easy of learning, with a high level of usability, efficiency, and intuitiveness.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5"/>
          <p:cNvSpPr txBox="1"/>
          <p:nvPr>
            <p:ph idx="12" type="sldNum"/>
          </p:nvPr>
        </p:nvSpPr>
        <p:spPr>
          <a:xfrm>
            <a:off x="9251461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3" name="Google Shape;503;p35"/>
          <p:cNvSpPr txBox="1"/>
          <p:nvPr>
            <p:ph type="title"/>
          </p:nvPr>
        </p:nvSpPr>
        <p:spPr>
          <a:xfrm>
            <a:off x="609600" y="342901"/>
            <a:ext cx="10972800" cy="975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3600"/>
              <a:buFont typeface="Calibri"/>
              <a:buNone/>
            </a:pPr>
            <a:r>
              <a:rPr lang="en-US"/>
              <a:t>Future work</a:t>
            </a:r>
            <a:endParaRPr/>
          </a:p>
        </p:txBody>
      </p:sp>
      <p:sp>
        <p:nvSpPr>
          <p:cNvPr id="504" name="Google Shape;504;p35"/>
          <p:cNvSpPr txBox="1"/>
          <p:nvPr>
            <p:ph idx="1" type="body"/>
          </p:nvPr>
        </p:nvSpPr>
        <p:spPr>
          <a:xfrm>
            <a:off x="609600" y="1375508"/>
            <a:ext cx="10972800" cy="4923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60375" lvl="0" marL="460375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/>
              <a:t>Integrate ClinicalPath with other systems</a:t>
            </a:r>
            <a:endParaRPr/>
          </a:p>
          <a:p>
            <a:pPr indent="-460375" lvl="0" marL="460375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/>
              <a:t>Include ImageData such as X-ray, Resonance, Tomography</a:t>
            </a:r>
            <a:endParaRPr/>
          </a:p>
          <a:p>
            <a:pPr indent="-460375" lvl="0" marL="460375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/>
              <a:t>Improve Visualization and Interaction features</a:t>
            </a:r>
            <a:endParaRPr/>
          </a:p>
          <a:p>
            <a:pPr indent="-460375" lvl="0" marL="460375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/>
              <a:t>Adapt to Population-based Tool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9"/>
          <p:cNvSpPr txBox="1"/>
          <p:nvPr>
            <p:ph type="ctrTitle"/>
          </p:nvPr>
        </p:nvSpPr>
        <p:spPr>
          <a:xfrm>
            <a:off x="0" y="2740025"/>
            <a:ext cx="12192000" cy="1089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6000"/>
              <a:buFont typeface="Calibri"/>
              <a:buNone/>
            </a:pPr>
            <a:r>
              <a:rPr b="1" lang="en-US" sz="6000"/>
              <a:t>Thank You For Your Attention</a:t>
            </a:r>
            <a:endParaRPr/>
          </a:p>
        </p:txBody>
      </p:sp>
      <p:sp>
        <p:nvSpPr>
          <p:cNvPr id="510" name="Google Shape;510;p49"/>
          <p:cNvSpPr txBox="1"/>
          <p:nvPr>
            <p:ph idx="12" type="sldNum"/>
          </p:nvPr>
        </p:nvSpPr>
        <p:spPr>
          <a:xfrm>
            <a:off x="9261231" y="6436382"/>
            <a:ext cx="2743200" cy="205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Icon&#10;&#10;Description automatically generated" id="511" name="Google Shape;51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0200" y="3787775"/>
            <a:ext cx="1371600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6"/>
          <p:cNvSpPr txBox="1"/>
          <p:nvPr>
            <p:ph idx="12" type="sldNum"/>
          </p:nvPr>
        </p:nvSpPr>
        <p:spPr>
          <a:xfrm>
            <a:off x="9251461" y="635634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8" name="Google Shape;518;p16"/>
          <p:cNvSpPr txBox="1"/>
          <p:nvPr>
            <p:ph type="title"/>
          </p:nvPr>
        </p:nvSpPr>
        <p:spPr>
          <a:xfrm>
            <a:off x="609600" y="342901"/>
            <a:ext cx="109728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3600"/>
              <a:buFont typeface="Calibri"/>
              <a:buNone/>
            </a:pPr>
            <a:r>
              <a:rPr lang="en-US"/>
              <a:t>Related Work</a:t>
            </a:r>
            <a:endParaRPr/>
          </a:p>
        </p:txBody>
      </p:sp>
      <p:sp>
        <p:nvSpPr>
          <p:cNvPr id="519" name="Google Shape;519;p16"/>
          <p:cNvSpPr txBox="1"/>
          <p:nvPr>
            <p:ph idx="1" type="body"/>
          </p:nvPr>
        </p:nvSpPr>
        <p:spPr>
          <a:xfrm>
            <a:off x="609600" y="1375508"/>
            <a:ext cx="10972800" cy="49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5715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t/>
            </a:r>
            <a:endParaRPr/>
          </a:p>
          <a:p>
            <a:pPr indent="0" lvl="0" marL="5715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t/>
            </a:r>
            <a:endParaRPr/>
          </a:p>
        </p:txBody>
      </p:sp>
      <p:pic>
        <p:nvPicPr>
          <p:cNvPr id="520" name="Google Shape;5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425" y="1913208"/>
            <a:ext cx="7124701" cy="3848291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16"/>
          <p:cNvSpPr txBox="1"/>
          <p:nvPr/>
        </p:nvSpPr>
        <p:spPr>
          <a:xfrm>
            <a:off x="8058150" y="1913208"/>
            <a:ext cx="35910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Filtering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 result classification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Clinical history and outcome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evaluation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Scalability of tests over time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6"/>
          <p:cNvSpPr txBox="1"/>
          <p:nvPr/>
        </p:nvSpPr>
        <p:spPr>
          <a:xfrm>
            <a:off x="733425" y="1513098"/>
            <a:ext cx="702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Comparison of EHR systems according to seven different aspects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6"/>
          <p:cNvSpPr/>
          <p:nvPr/>
        </p:nvSpPr>
        <p:spPr>
          <a:xfrm>
            <a:off x="823912" y="5363515"/>
            <a:ext cx="6943800" cy="284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6"/>
          <p:cNvSpPr/>
          <p:nvPr/>
        </p:nvSpPr>
        <p:spPr>
          <a:xfrm>
            <a:off x="9648825" y="2085975"/>
            <a:ext cx="324000" cy="9144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333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6"/>
          <p:cNvSpPr txBox="1"/>
          <p:nvPr/>
        </p:nvSpPr>
        <p:spPr>
          <a:xfrm>
            <a:off x="9972675" y="2219325"/>
            <a:ext cx="1676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3333CC"/>
                </a:solidFill>
                <a:latin typeface="Calibri"/>
                <a:ea typeface="Calibri"/>
                <a:cs typeface="Calibri"/>
                <a:sym typeface="Calibri"/>
              </a:rPr>
              <a:t>tests 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3333CC"/>
                </a:solidFill>
                <a:latin typeface="Calibri"/>
                <a:ea typeface="Calibri"/>
                <a:cs typeface="Calibri"/>
                <a:sym typeface="Calibri"/>
              </a:rPr>
              <a:t>time intervals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7"/>
          <p:cNvSpPr txBox="1"/>
          <p:nvPr>
            <p:ph idx="1" type="body"/>
          </p:nvPr>
        </p:nvSpPr>
        <p:spPr>
          <a:xfrm>
            <a:off x="127488" y="1352062"/>
            <a:ext cx="5067300" cy="51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26231" lvl="0" marL="3429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500"/>
              <a:t>Requirements (S1-S6):</a:t>
            </a:r>
            <a:endParaRPr/>
          </a:p>
          <a:p>
            <a:pPr indent="-331469" lvl="0" marL="8001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AutoNum type="arabicPeriod"/>
            </a:pPr>
            <a:r>
              <a:rPr lang="en-US" sz="2400">
                <a:solidFill>
                  <a:srgbClr val="C00000"/>
                </a:solidFill>
              </a:rPr>
              <a:t>How</a:t>
            </a:r>
            <a:r>
              <a:rPr lang="en-US" sz="2400"/>
              <a:t> the test results change over time?</a:t>
            </a:r>
            <a:endParaRPr/>
          </a:p>
          <a:p>
            <a:pPr indent="-331469" lvl="0" marL="8001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AutoNum type="arabicPeriod"/>
            </a:pPr>
            <a:r>
              <a:rPr lang="en-US" sz="2400">
                <a:solidFill>
                  <a:srgbClr val="C00000"/>
                </a:solidFill>
              </a:rPr>
              <a:t>What</a:t>
            </a:r>
            <a:r>
              <a:rPr lang="en-US" sz="2400"/>
              <a:t> tests are performed on a specific day or period of time?</a:t>
            </a:r>
            <a:endParaRPr/>
          </a:p>
          <a:p>
            <a:pPr indent="-331469" lvl="0" marL="8001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AutoNum type="arabicPeriod"/>
            </a:pPr>
            <a:r>
              <a:rPr lang="en-US" sz="2400">
                <a:solidFill>
                  <a:srgbClr val="C00000"/>
                </a:solidFill>
              </a:rPr>
              <a:t>Compare</a:t>
            </a:r>
            <a:r>
              <a:rPr lang="en-US" sz="2400"/>
              <a:t> tests’ results of a patient over time (patient history)?</a:t>
            </a:r>
            <a:endParaRPr/>
          </a:p>
          <a:p>
            <a:pPr indent="-331469" lvl="0" marL="8001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AutoNum type="arabicPeriod"/>
            </a:pPr>
            <a:r>
              <a:rPr lang="en-US" sz="2400">
                <a:solidFill>
                  <a:srgbClr val="C00000"/>
                </a:solidFill>
              </a:rPr>
              <a:t>Which</a:t>
            </a:r>
            <a:r>
              <a:rPr lang="en-US" sz="2400"/>
              <a:t> departments of the facility is/was the patient located in?</a:t>
            </a:r>
            <a:endParaRPr/>
          </a:p>
          <a:p>
            <a:pPr indent="-331469" lvl="0" marL="8001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AutoNum type="arabicPeriod"/>
            </a:pPr>
            <a:r>
              <a:rPr lang="en-US" sz="2400">
                <a:solidFill>
                  <a:srgbClr val="C00000"/>
                </a:solidFill>
              </a:rPr>
              <a:t>If and What </a:t>
            </a:r>
            <a:r>
              <a:rPr lang="en-US" sz="2400"/>
              <a:t>part of the patient’s event history is available?</a:t>
            </a:r>
            <a:endParaRPr/>
          </a:p>
          <a:p>
            <a:pPr indent="-331469" lvl="0" marL="8001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AutoNum type="arabicPeriod"/>
            </a:pPr>
            <a:r>
              <a:rPr lang="en-US" sz="2400">
                <a:solidFill>
                  <a:srgbClr val="C00000"/>
                </a:solidFill>
              </a:rPr>
              <a:t>Analyze</a:t>
            </a:r>
            <a:r>
              <a:rPr lang="en-US" sz="2400"/>
              <a:t> tests results according to target specialties, such as endocrine, cardio, renal ones.</a:t>
            </a:r>
            <a:endParaRPr/>
          </a:p>
        </p:txBody>
      </p:sp>
      <p:sp>
        <p:nvSpPr>
          <p:cNvPr id="532" name="Google Shape;532;p17"/>
          <p:cNvSpPr txBox="1"/>
          <p:nvPr>
            <p:ph idx="2" type="body"/>
          </p:nvPr>
        </p:nvSpPr>
        <p:spPr>
          <a:xfrm>
            <a:off x="5492750" y="1352062"/>
            <a:ext cx="6387600" cy="49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/>
              <a:t>Tasks (T1-T6):</a:t>
            </a:r>
            <a:endParaRPr/>
          </a:p>
          <a:p>
            <a:pPr indent="-342900" lvl="0" marL="8001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Calibri"/>
              <a:buAutoNum type="arabicPeriod"/>
            </a:pPr>
            <a:r>
              <a:rPr lang="en-US" sz="2000">
                <a:solidFill>
                  <a:srgbClr val="C00000"/>
                </a:solidFill>
              </a:rPr>
              <a:t>Exhibit</a:t>
            </a:r>
            <a:r>
              <a:rPr lang="en-US" sz="2000"/>
              <a:t> and </a:t>
            </a:r>
            <a:r>
              <a:rPr lang="en-US" sz="2000">
                <a:solidFill>
                  <a:srgbClr val="C00000"/>
                </a:solidFill>
              </a:rPr>
              <a:t>classify</a:t>
            </a:r>
            <a:r>
              <a:rPr lang="en-US" sz="2000"/>
              <a:t> test results </a:t>
            </a:r>
            <a:r>
              <a:rPr lang="en-US" sz="2000">
                <a:solidFill>
                  <a:srgbClr val="3333CC"/>
                </a:solidFill>
              </a:rPr>
              <a:t>(how - S1, S3)</a:t>
            </a:r>
            <a:endParaRPr/>
          </a:p>
          <a:p>
            <a:pPr indent="-342900" lvl="0" marL="8001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Calibri"/>
              <a:buAutoNum type="arabicPeriod"/>
            </a:pPr>
            <a:r>
              <a:rPr lang="en-US" sz="2000">
                <a:solidFill>
                  <a:srgbClr val="C00000"/>
                </a:solidFill>
              </a:rPr>
              <a:t>Select</a:t>
            </a:r>
            <a:r>
              <a:rPr lang="en-US" sz="2000"/>
              <a:t> tests and results according to date </a:t>
            </a:r>
            <a:r>
              <a:rPr lang="en-US" sz="2000">
                <a:solidFill>
                  <a:srgbClr val="3333CC"/>
                </a:solidFill>
              </a:rPr>
              <a:t>(how – S2)</a:t>
            </a:r>
            <a:endParaRPr/>
          </a:p>
          <a:p>
            <a:pPr indent="-342900" lvl="0" marL="8001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Calibri"/>
              <a:buAutoNum type="arabicPeriod"/>
            </a:pPr>
            <a:r>
              <a:rPr lang="en-US" sz="2000">
                <a:solidFill>
                  <a:srgbClr val="C00000"/>
                </a:solidFill>
              </a:rPr>
              <a:t>Filter</a:t>
            </a:r>
            <a:r>
              <a:rPr lang="en-US" sz="2000"/>
              <a:t> only dates with tests performed </a:t>
            </a:r>
            <a:r>
              <a:rPr lang="en-US" sz="2000">
                <a:solidFill>
                  <a:srgbClr val="3333CC"/>
                </a:solidFill>
              </a:rPr>
              <a:t>(how – S2, S3)</a:t>
            </a:r>
            <a:endParaRPr/>
          </a:p>
          <a:p>
            <a:pPr indent="-342900" lvl="0" marL="8001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Calibri"/>
              <a:buAutoNum type="arabicPeriod"/>
            </a:pPr>
            <a:r>
              <a:rPr lang="en-US" sz="2000">
                <a:solidFill>
                  <a:srgbClr val="C00000"/>
                </a:solidFill>
              </a:rPr>
              <a:t>Compare</a:t>
            </a:r>
            <a:r>
              <a:rPr lang="en-US" sz="2000"/>
              <a:t> a set of test results over time </a:t>
            </a:r>
            <a:r>
              <a:rPr lang="en-US" sz="2000">
                <a:solidFill>
                  <a:srgbClr val="3333CC"/>
                </a:solidFill>
              </a:rPr>
              <a:t>(why – S3)</a:t>
            </a:r>
            <a:endParaRPr/>
          </a:p>
          <a:p>
            <a:pPr indent="-342900" lvl="0" marL="8001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Calibri"/>
              <a:buAutoNum type="arabicPeriod"/>
            </a:pPr>
            <a:r>
              <a:rPr lang="en-US" sz="2000">
                <a:solidFill>
                  <a:srgbClr val="C00000"/>
                </a:solidFill>
              </a:rPr>
              <a:t>Map</a:t>
            </a:r>
            <a:r>
              <a:rPr lang="en-US" sz="2000"/>
              <a:t> clinical history and outcomes </a:t>
            </a:r>
            <a:r>
              <a:rPr lang="en-US" sz="2000">
                <a:solidFill>
                  <a:srgbClr val="3333CC"/>
                </a:solidFill>
              </a:rPr>
              <a:t>(what- S4, S5)</a:t>
            </a:r>
            <a:endParaRPr/>
          </a:p>
          <a:p>
            <a:pPr indent="-342900" lvl="0" marL="8001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Calibri"/>
              <a:buAutoNum type="arabicPeriod"/>
            </a:pPr>
            <a:r>
              <a:rPr lang="en-US" sz="2000">
                <a:solidFill>
                  <a:srgbClr val="C00000"/>
                </a:solidFill>
              </a:rPr>
              <a:t>Group</a:t>
            </a:r>
            <a:r>
              <a:rPr lang="en-US" sz="2000"/>
              <a:t> and </a:t>
            </a:r>
            <a:r>
              <a:rPr lang="en-US" sz="2000">
                <a:solidFill>
                  <a:srgbClr val="C00000"/>
                </a:solidFill>
              </a:rPr>
              <a:t>order</a:t>
            </a:r>
            <a:r>
              <a:rPr lang="en-US" sz="2000"/>
              <a:t> tests </a:t>
            </a:r>
            <a:r>
              <a:rPr lang="en-US" sz="2000">
                <a:solidFill>
                  <a:srgbClr val="3333CC"/>
                </a:solidFill>
              </a:rPr>
              <a:t>(how – S3, S6)</a:t>
            </a:r>
            <a:endParaRPr/>
          </a:p>
        </p:txBody>
      </p:sp>
      <p:sp>
        <p:nvSpPr>
          <p:cNvPr id="533" name="Google Shape;533;p17"/>
          <p:cNvSpPr txBox="1"/>
          <p:nvPr>
            <p:ph idx="12" type="sldNum"/>
          </p:nvPr>
        </p:nvSpPr>
        <p:spPr>
          <a:xfrm>
            <a:off x="9251461" y="635634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4" name="Google Shape;534;p17"/>
          <p:cNvSpPr txBox="1"/>
          <p:nvPr>
            <p:ph type="title"/>
          </p:nvPr>
        </p:nvSpPr>
        <p:spPr>
          <a:xfrm>
            <a:off x="609600" y="342901"/>
            <a:ext cx="109728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3600"/>
              <a:buFont typeface="Calibri"/>
              <a:buNone/>
            </a:pPr>
            <a:r>
              <a:rPr lang="en-US"/>
              <a:t>Method – Requirements and Tasks</a:t>
            </a:r>
            <a:endParaRPr/>
          </a:p>
        </p:txBody>
      </p:sp>
      <p:graphicFrame>
        <p:nvGraphicFramePr>
          <p:cNvPr id="535" name="Google Shape;535;p17"/>
          <p:cNvGraphicFramePr/>
          <p:nvPr/>
        </p:nvGraphicFramePr>
        <p:xfrm>
          <a:off x="5492749" y="49761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{0A1347FB-14EA-407D-ABD4-EF2CE944BC5F}</a:tableStyleId>
              </a:tblPr>
              <a:tblGrid>
                <a:gridCol w="1901525"/>
                <a:gridCol w="1635425"/>
                <a:gridCol w="2850650"/>
              </a:tblGrid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Category</a:t>
                      </a:r>
                      <a:endParaRPr i="0" sz="16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Type of question</a:t>
                      </a:r>
                      <a:endParaRPr i="0" sz="16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Example</a:t>
                      </a:r>
                      <a:endParaRPr i="0" sz="1600" u="none" cap="none" strike="noStrike"/>
                    </a:p>
                  </a:txBody>
                  <a:tcPr marT="45725" marB="45725" marR="91450" marL="91450" anchor="ctr"/>
                </a:tc>
              </a:tr>
              <a:tr h="325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Higher-level goals </a:t>
                      </a:r>
                      <a:endParaRPr i="0" sz="16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why</a:t>
                      </a:r>
                      <a:endParaRPr i="0" sz="16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discover, search, &amp; comparison</a:t>
                      </a:r>
                      <a:endParaRPr i="0" sz="1600" u="none" cap="none" strike="noStrike"/>
                    </a:p>
                  </a:txBody>
                  <a:tcPr marT="45725" marB="45725" marR="91450" marL="91450" anchor="ctr"/>
                </a:tc>
              </a:tr>
              <a:tr h="325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Lower-level goals </a:t>
                      </a:r>
                      <a:endParaRPr i="0" sz="16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how</a:t>
                      </a:r>
                      <a:endParaRPr i="0" sz="16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filter, arrange, navigate</a:t>
                      </a:r>
                      <a:endParaRPr i="0" sz="1600" u="none" cap="none" strike="noStrike"/>
                    </a:p>
                  </a:txBody>
                  <a:tcPr marT="45725" marB="45725" marR="91450" marL="91450" anchor="ctr"/>
                </a:tc>
              </a:tr>
              <a:tr h="325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User-specific tasks </a:t>
                      </a:r>
                      <a:endParaRPr i="0" sz="16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what</a:t>
                      </a:r>
                      <a:endParaRPr i="0" sz="16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inputs and outputs</a:t>
                      </a:r>
                      <a:endParaRPr i="0" sz="16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0"/>
          <p:cNvSpPr txBox="1"/>
          <p:nvPr>
            <p:ph idx="12" type="sldNum"/>
          </p:nvPr>
        </p:nvSpPr>
        <p:spPr>
          <a:xfrm>
            <a:off x="9251461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1" name="Google Shape;541;p50"/>
          <p:cNvSpPr txBox="1"/>
          <p:nvPr>
            <p:ph type="title"/>
          </p:nvPr>
        </p:nvSpPr>
        <p:spPr>
          <a:xfrm>
            <a:off x="609600" y="342901"/>
            <a:ext cx="10972800" cy="975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3600"/>
              <a:buFont typeface="Calibri"/>
              <a:buNone/>
            </a:pPr>
            <a:r>
              <a:rPr lang="en-US"/>
              <a:t>ClinicalPath - Data preprocessing</a:t>
            </a:r>
            <a:endParaRPr/>
          </a:p>
        </p:txBody>
      </p:sp>
      <p:pic>
        <p:nvPicPr>
          <p:cNvPr id="542" name="Google Shape;542;p5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91472" y="2794502"/>
            <a:ext cx="5614378" cy="2715956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50"/>
          <p:cNvSpPr txBox="1"/>
          <p:nvPr/>
        </p:nvSpPr>
        <p:spPr>
          <a:xfrm>
            <a:off x="2817323" y="5727993"/>
            <a:ext cx="643413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of the calculation of the five categories using the reference values, and the medians in low/high subsets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50"/>
          <p:cNvSpPr txBox="1"/>
          <p:nvPr/>
        </p:nvSpPr>
        <p:spPr>
          <a:xfrm>
            <a:off x="609600" y="1375508"/>
            <a:ext cx="10972800" cy="4923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60375" lvl="0" marL="460375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Cleaning and Normalization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60375" lvl="0" marL="460375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 Results Categorization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51"/>
          <p:cNvSpPr txBox="1"/>
          <p:nvPr>
            <p:ph idx="12" type="sldNum"/>
          </p:nvPr>
        </p:nvSpPr>
        <p:spPr>
          <a:xfrm>
            <a:off x="9251461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0" name="Google Shape;550;p51"/>
          <p:cNvSpPr txBox="1"/>
          <p:nvPr>
            <p:ph type="title"/>
          </p:nvPr>
        </p:nvSpPr>
        <p:spPr>
          <a:xfrm>
            <a:off x="609600" y="342901"/>
            <a:ext cx="109728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3600"/>
              <a:buFont typeface="Calibri"/>
              <a:buNone/>
            </a:pPr>
            <a:r>
              <a:rPr lang="en-US"/>
              <a:t>ClinicalPath - Implementation</a:t>
            </a:r>
            <a:endParaRPr/>
          </a:p>
        </p:txBody>
      </p:sp>
      <p:sp>
        <p:nvSpPr>
          <p:cNvPr id="551" name="Google Shape;551;p51"/>
          <p:cNvSpPr txBox="1"/>
          <p:nvPr/>
        </p:nvSpPr>
        <p:spPr>
          <a:xfrm>
            <a:off x="609600" y="1375508"/>
            <a:ext cx="10972800" cy="4923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60375" lvl="0" marL="460375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ClinicalPath is freely available system developed in </a:t>
            </a:r>
            <a:r>
              <a:rPr b="0" i="0" lang="en-US" sz="3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Java</a:t>
            </a: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support multiple platforms.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4488" lvl="1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3333CC"/>
                </a:solidFill>
                <a:latin typeface="Calibri"/>
                <a:ea typeface="Calibri"/>
                <a:cs typeface="Calibri"/>
                <a:sym typeface="Calibri"/>
              </a:rPr>
              <a:t>JGraphX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the geometric shapes with interaction.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4488" lvl="1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3333CC"/>
                </a:solidFill>
                <a:latin typeface="Calibri"/>
                <a:ea typeface="Calibri"/>
                <a:cs typeface="Calibri"/>
                <a:sym typeface="Calibri"/>
              </a:rPr>
              <a:t>JFreeChart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the interactive line chart.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65138" lvl="1" marL="46513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ClinicalPath requires the data represented in a 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graph format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65138" lvl="2" marL="925513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source nodes are the patients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65138" lvl="2" marL="925513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target nodes are tests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65138" lvl="2" marL="925513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edges are the test results in each timestamp.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460375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2022-10-30T03:46:34Z</dcterms:created>
  <dc:creator>潘阮明草</dc:creator>
</cp:coreProperties>
</file>